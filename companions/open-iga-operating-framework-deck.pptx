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teaches the Open IGA Operating Framework in one session and is built to be reused: it is a companion of the framework itself, licensed CC BY 4.0, so any team can adapt it for an engagement as long as the attribution on the closing slide stays. Everything shown here exists in full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visually before the solution: standards above, platforms below, and the dashed layer between them is where programs actually run, sourced today from internal wikis and engagement decks and re-derived every time. The framework's mission is that dashed box, published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 is the framework's core economics and the honest engagement pitch, drawn as a form: the printed rows travel identically to every organization and are now free, and the bracketed values are the work only the client can do. The counts on the Fernway slide later make the same point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walks the six-layer core. Each layer gets one slide with the same shape: what it fixes, how it breaks, and the worksheet that captures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is the whole framework on one page. Read it top down as a build order: a program that starts writing processes before fixing the mandate is building on sand, and the failure modes in each chapter describe exactly what that looks like. Note the honesty in the dashed connectors: two metric mappings are proposed rather than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 room on this grid before anything else: most confusion about applicability dissolves once starting state and archetype are separated. Bluefield, the partial rebuild beside a live legacy estate, is borrowed from migration practice because identity lacks a native term for the middle state. Every organization in the room sits in exactly one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1, Mandate, answers why. Walk the diagram left to right; it carries the layer's key decisions with their identifiers in place. Then land on the failure card: the observable signal is something the room can check in their own environment this week, which is what makes the framework a diagnostic rather than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2, Ownership, answers who. Walk the diagram left to right; it carries the layer's key decisions with their identifiers in place. Then land on the failure card: the observable signal is something the room can check in their own environment this week, which is what makes the framework a diagnostic rather than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3, Scope, answers what. Walk the diagram left to right; it carries the layer's key decisions with their identifiers in place. Then land on the failure card: the observable signal is something the room can check in their own environment this week, which is what makes the framework a diagnostic rather than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4, Prioritization, answers which. Walk the diagram left to right; it carries the layer's key decisions with their identifiers in place. Then land on the failure card: the observable signal is something the room can check in their own environment this week, which is what makes the framework a diagnostic rather than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5, Process, answers how. Walk the diagram left to right; it carries the layer's key decisions with their identifiers in place. Then land on the failure card: the observable signal is something the room can check in their own environment this week, which is what makes the framework a diagnostic rather than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6, Cadence, answers when. Walk the diagram left to right; it carries the layer's key decisions with their identifiers in place. Then land on the failure card: the observable signal is something the room can check in their own environment this week, which is what makes the framework a diagnostic rather than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modes are the framework's memorable surface, and the names are deliberate: a room that laughs at calendar theatre has recognized it. Every failure mode carries a signal checkable against real data, which turns the framework into a self-assessment instrument before any project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serves a program at four moments, and an engagement can enter at any of them. Kick start is the greenfield path; upgrade is the brownfield one, where the numbered decisions become a gap assessment and the output is a sequenced backlog rather than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covers the metrics layer: what the four metrics read, why activity measures are insufficient, and where the honest boundaries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conveyor is the argument: grants keep arriving, review samples on a cadence, and whenever arrival outruns review the unreviewed pile grows while completion still reads one hundred percent. The four metrics read that gap. Be explicit about the honesty markers: two mappings confirmed, two proposed pending pilot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EDR is phase one because it needs only data the governance platform already holds: grants, removals, and campaign dates. The three variants exist because a net number hides churn. The reporting guidance matters in practice: keep the definition's per-day unit for computation and headline the per-campaign equivalent for any audience above the platform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Lag reads the latency nobody measures: the time between access becoming inappropriate and governance noticing. A program that revokes in two hours after detecting in four months carries a four-month lag. The sample numbers are illustrative, drawn from the source paper, and the human versus non-human gap is usually the slide that wins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two with their status visible: proposed, pending pilot evidence. That labelling is a feature in a consulting context, because it demonstrates the framework distinguishes what it knows from what it hypothesizes, which is exactly the discipline clients should demand of any measurement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executive room asks what good looks like. The drawn answer: the target has no needle yet because no reference dataset exists, and the trend line is what is decision-grade in year one, your own direction over a constant window. In an engagement this converts from weakness to differentiator, because it is the answer a measurement scientist would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is the reuse story: the worked example, the four-step engagement arc, and where the framework's status and governance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example drawn as its ratio: forty-seven pieces of supplied structure against roughly two dozen locally written values, an afternoon of decisions Fernway was equipped to make. Use it as the pre-read that teaches the mechanics and as the template for the client's own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reuse slide: a complete engagement shape built entirely from public artifacts. Nothing here requires the framework's author, which is the point of an open operating layer. The paid differentiation is speed, judgment, and pattern recognition across the values column of the Fernway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education with the honest status. The framework states what is settled, what is proposed, and how each kind of change happens, and it invites disagreement in citable form. In an engagement this slide doubles as the answer to why trust a v0.1: because the version tells you exactly what it does and does not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handoff: the repository is the deliverable, this deck is one companion of it, and the attribution line is the licence condition for reuse. If the room takes one action, it is the failure-mode self-check against their own environment, because that is where the framework stops being a presentation and starts being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2148840"/>
            <a:ext cx="10058400" cy="365760"/>
          </a:xfrm>
          <a:prstGeom prst="rect">
            <a:avLst/>
          </a:prstGeom>
          <a:noFill/>
          <a:ln/>
        </p:spPr>
        <p:txBody>
          <a:bodyPr wrap="square" rtlCol="0" anchor="ctr"/>
          <a:lstStyle/>
          <a:p>
            <a:pPr indent="0" marL="0">
              <a:buNone/>
            </a:pPr>
            <a:r>
              <a:rPr lang="en-US" sz="1300" b="1" spc="350" kern="0" dirty="0">
                <a:solidFill>
                  <a:srgbClr val="A2A299"/>
                </a:solidFill>
                <a:latin typeface="Courier New" pitchFamily="34" charset="0"/>
                <a:ea typeface="Courier New" pitchFamily="34" charset="-122"/>
                <a:cs typeface="Courier New" pitchFamily="34" charset="-120"/>
              </a:rPr>
              <a:t>IDENTARA · OPEN RESEARCH</a:t>
            </a:r>
            <a:endParaRPr lang="en-US" sz="1300" dirty="0"/>
          </a:p>
        </p:txBody>
      </p:sp>
      <p:sp>
        <p:nvSpPr>
          <p:cNvPr id="3" name="Text 1"/>
          <p:cNvSpPr/>
          <p:nvPr/>
        </p:nvSpPr>
        <p:spPr>
          <a:xfrm>
            <a:off x="822960" y="2560320"/>
            <a:ext cx="10515600" cy="1005840"/>
          </a:xfrm>
          <a:prstGeom prst="rect">
            <a:avLst/>
          </a:prstGeom>
          <a:noFill/>
          <a:ln/>
        </p:spPr>
        <p:txBody>
          <a:bodyPr wrap="square" rtlCol="0" anchor="ctr"/>
          <a:lstStyle/>
          <a:p>
            <a:pPr indent="0" marL="0">
              <a:buNone/>
            </a:pPr>
            <a:r>
              <a:rPr lang="en-US" sz="4200" b="1" dirty="0">
                <a:solidFill>
                  <a:srgbClr val="EFEEE9"/>
                </a:solidFill>
                <a:latin typeface="Georgia" pitchFamily="34" charset="0"/>
                <a:ea typeface="Georgia" pitchFamily="34" charset="-122"/>
                <a:cs typeface="Georgia" pitchFamily="34" charset="-120"/>
              </a:rPr>
              <a:t>Open IGA Operating Framework</a:t>
            </a:r>
            <a:endParaRPr lang="en-US" sz="4200" dirty="0"/>
          </a:p>
        </p:txBody>
      </p:sp>
      <p:sp>
        <p:nvSpPr>
          <p:cNvPr id="4" name="Text 2"/>
          <p:cNvSpPr/>
          <p:nvPr/>
        </p:nvSpPr>
        <p:spPr>
          <a:xfrm>
            <a:off x="822960" y="3611880"/>
            <a:ext cx="9601200" cy="457200"/>
          </a:xfrm>
          <a:prstGeom prst="rect">
            <a:avLst/>
          </a:prstGeom>
          <a:noFill/>
          <a:ln/>
        </p:spPr>
        <p:txBody>
          <a:bodyPr wrap="square" rtlCol="0" anchor="ctr"/>
          <a:lstStyle/>
          <a:p>
            <a:pPr indent="0" marL="0">
              <a:buNone/>
            </a:pPr>
            <a:r>
              <a:rPr lang="en-US" sz="1900" i="1" dirty="0">
                <a:solidFill>
                  <a:srgbClr val="C9C7BE"/>
                </a:solidFill>
                <a:latin typeface="Arial" pitchFamily="34" charset="0"/>
                <a:ea typeface="Arial" pitchFamily="34" charset="-122"/>
                <a:cs typeface="Arial" pitchFamily="34" charset="-120"/>
              </a:rPr>
              <a:t>The operating layer for identity governance programs, published.</a:t>
            </a:r>
            <a:endParaRPr lang="en-US" sz="1900" dirty="0"/>
          </a:p>
        </p:txBody>
      </p:sp>
      <p:sp>
        <p:nvSpPr>
          <p:cNvPr id="5" name="Text 3"/>
          <p:cNvSpPr/>
          <p:nvPr/>
        </p:nvSpPr>
        <p:spPr>
          <a:xfrm>
            <a:off x="822960" y="4434840"/>
            <a:ext cx="1097280" cy="384048"/>
          </a:xfrm>
          <a:prstGeom prst="rect">
            <a:avLst/>
          </a:prstGeom>
          <a:solidFill>
            <a:srgbClr val="262623"/>
          </a:solidFill>
          <a:ln/>
        </p:spPr>
        <p:txBody>
          <a:bodyPr wrap="square" lIns="0" tIns="0" rIns="0" bIns="0" rtlCol="0" anchor="ctr"/>
          <a:lstStyle/>
          <a:p>
            <a:pPr algn="ctr" indent="0" marL="0">
              <a:buNone/>
            </a:pPr>
            <a:r>
              <a:rPr lang="en-US" sz="1800" i="1" dirty="0">
                <a:solidFill>
                  <a:srgbClr val="A2A299"/>
                </a:solidFill>
                <a:latin typeface="Georgia" pitchFamily="34" charset="0"/>
                <a:ea typeface="Georgia" pitchFamily="34" charset="-122"/>
                <a:cs typeface="Georgia" pitchFamily="34" charset="-120"/>
              </a:rPr>
              <a:t>why</a:t>
            </a:r>
            <a:endParaRPr lang="en-US" sz="1800" dirty="0"/>
          </a:p>
        </p:txBody>
      </p:sp>
      <p:sp>
        <p:nvSpPr>
          <p:cNvPr id="6" name="Text 4"/>
          <p:cNvSpPr/>
          <p:nvPr/>
        </p:nvSpPr>
        <p:spPr>
          <a:xfrm>
            <a:off x="1993392" y="4434840"/>
            <a:ext cx="1097280" cy="384048"/>
          </a:xfrm>
          <a:prstGeom prst="rect">
            <a:avLst/>
          </a:prstGeom>
          <a:solidFill>
            <a:srgbClr val="262623"/>
          </a:solidFill>
          <a:ln/>
        </p:spPr>
        <p:txBody>
          <a:bodyPr wrap="square" lIns="0" tIns="0" rIns="0" bIns="0" rtlCol="0" anchor="ctr"/>
          <a:lstStyle/>
          <a:p>
            <a:pPr algn="ctr" indent="0" marL="0">
              <a:buNone/>
            </a:pPr>
            <a:r>
              <a:rPr lang="en-US" sz="1800" i="1" dirty="0">
                <a:solidFill>
                  <a:srgbClr val="A2A299"/>
                </a:solidFill>
                <a:latin typeface="Georgia" pitchFamily="34" charset="0"/>
                <a:ea typeface="Georgia" pitchFamily="34" charset="-122"/>
                <a:cs typeface="Georgia" pitchFamily="34" charset="-120"/>
              </a:rPr>
              <a:t>who</a:t>
            </a:r>
            <a:endParaRPr lang="en-US" sz="1800" dirty="0"/>
          </a:p>
        </p:txBody>
      </p:sp>
      <p:sp>
        <p:nvSpPr>
          <p:cNvPr id="7" name="Text 5"/>
          <p:cNvSpPr/>
          <p:nvPr/>
        </p:nvSpPr>
        <p:spPr>
          <a:xfrm>
            <a:off x="3163824" y="4434840"/>
            <a:ext cx="1097280" cy="384048"/>
          </a:xfrm>
          <a:prstGeom prst="rect">
            <a:avLst/>
          </a:prstGeom>
          <a:solidFill>
            <a:srgbClr val="262623"/>
          </a:solidFill>
          <a:ln/>
        </p:spPr>
        <p:txBody>
          <a:bodyPr wrap="square" lIns="0" tIns="0" rIns="0" bIns="0" rtlCol="0" anchor="ctr"/>
          <a:lstStyle/>
          <a:p>
            <a:pPr algn="ctr" indent="0" marL="0">
              <a:buNone/>
            </a:pPr>
            <a:r>
              <a:rPr lang="en-US" sz="1800" i="1" dirty="0">
                <a:solidFill>
                  <a:srgbClr val="A2A299"/>
                </a:solidFill>
                <a:latin typeface="Georgia" pitchFamily="34" charset="0"/>
                <a:ea typeface="Georgia" pitchFamily="34" charset="-122"/>
                <a:cs typeface="Georgia" pitchFamily="34" charset="-120"/>
              </a:rPr>
              <a:t>what</a:t>
            </a:r>
            <a:endParaRPr lang="en-US" sz="1800" dirty="0"/>
          </a:p>
        </p:txBody>
      </p:sp>
      <p:sp>
        <p:nvSpPr>
          <p:cNvPr id="8" name="Text 6"/>
          <p:cNvSpPr/>
          <p:nvPr/>
        </p:nvSpPr>
        <p:spPr>
          <a:xfrm>
            <a:off x="4334256" y="4434840"/>
            <a:ext cx="1097280" cy="384048"/>
          </a:xfrm>
          <a:prstGeom prst="rect">
            <a:avLst/>
          </a:prstGeom>
          <a:solidFill>
            <a:srgbClr val="262623"/>
          </a:solidFill>
          <a:ln/>
        </p:spPr>
        <p:txBody>
          <a:bodyPr wrap="square" lIns="0" tIns="0" rIns="0" bIns="0" rtlCol="0" anchor="ctr"/>
          <a:lstStyle/>
          <a:p>
            <a:pPr algn="ctr" indent="0" marL="0">
              <a:buNone/>
            </a:pPr>
            <a:r>
              <a:rPr lang="en-US" sz="1800" i="1" dirty="0">
                <a:solidFill>
                  <a:srgbClr val="A2A299"/>
                </a:solidFill>
                <a:latin typeface="Georgia" pitchFamily="34" charset="0"/>
                <a:ea typeface="Georgia" pitchFamily="34" charset="-122"/>
                <a:cs typeface="Georgia" pitchFamily="34" charset="-120"/>
              </a:rPr>
              <a:t>which</a:t>
            </a:r>
            <a:endParaRPr lang="en-US" sz="1800" dirty="0"/>
          </a:p>
        </p:txBody>
      </p:sp>
      <p:sp>
        <p:nvSpPr>
          <p:cNvPr id="9" name="Text 7"/>
          <p:cNvSpPr/>
          <p:nvPr/>
        </p:nvSpPr>
        <p:spPr>
          <a:xfrm>
            <a:off x="5504688" y="4434840"/>
            <a:ext cx="1097280" cy="384048"/>
          </a:xfrm>
          <a:prstGeom prst="rect">
            <a:avLst/>
          </a:prstGeom>
          <a:solidFill>
            <a:srgbClr val="262623"/>
          </a:solidFill>
          <a:ln/>
        </p:spPr>
        <p:txBody>
          <a:bodyPr wrap="square" lIns="0" tIns="0" rIns="0" bIns="0" rtlCol="0" anchor="ctr"/>
          <a:lstStyle/>
          <a:p>
            <a:pPr algn="ctr" indent="0" marL="0">
              <a:buNone/>
            </a:pPr>
            <a:r>
              <a:rPr lang="en-US" sz="1800" i="1" dirty="0">
                <a:solidFill>
                  <a:srgbClr val="A2A299"/>
                </a:solidFill>
                <a:latin typeface="Georgia" pitchFamily="34" charset="0"/>
                <a:ea typeface="Georgia" pitchFamily="34" charset="-122"/>
                <a:cs typeface="Georgia" pitchFamily="34" charset="-120"/>
              </a:rPr>
              <a:t>how</a:t>
            </a:r>
            <a:endParaRPr lang="en-US" sz="1800" dirty="0"/>
          </a:p>
        </p:txBody>
      </p:sp>
      <p:sp>
        <p:nvSpPr>
          <p:cNvPr id="10" name="Text 8"/>
          <p:cNvSpPr/>
          <p:nvPr/>
        </p:nvSpPr>
        <p:spPr>
          <a:xfrm>
            <a:off x="6675120" y="4434840"/>
            <a:ext cx="1097280" cy="384048"/>
          </a:xfrm>
          <a:prstGeom prst="rect">
            <a:avLst/>
          </a:prstGeom>
          <a:solidFill>
            <a:srgbClr val="262623"/>
          </a:solidFill>
          <a:ln/>
        </p:spPr>
        <p:txBody>
          <a:bodyPr wrap="square" lIns="0" tIns="0" rIns="0" bIns="0" rtlCol="0" anchor="ctr"/>
          <a:lstStyle/>
          <a:p>
            <a:pPr algn="ctr" indent="0" marL="0">
              <a:buNone/>
            </a:pPr>
            <a:r>
              <a:rPr lang="en-US" sz="1800" i="1" dirty="0">
                <a:solidFill>
                  <a:srgbClr val="A2A299"/>
                </a:solidFill>
                <a:latin typeface="Georgia" pitchFamily="34" charset="0"/>
                <a:ea typeface="Georgia" pitchFamily="34" charset="-122"/>
                <a:cs typeface="Georgia" pitchFamily="34" charset="-120"/>
              </a:rPr>
              <a:t>when</a:t>
            </a:r>
            <a:endParaRPr lang="en-US" sz="1800" dirty="0"/>
          </a:p>
        </p:txBody>
      </p:sp>
      <p:sp>
        <p:nvSpPr>
          <p:cNvPr id="11" name="Text 9"/>
          <p:cNvSpPr/>
          <p:nvPr/>
        </p:nvSpPr>
        <p:spPr>
          <a:xfrm>
            <a:off x="822960" y="6035040"/>
            <a:ext cx="10515600" cy="320040"/>
          </a:xfrm>
          <a:prstGeom prst="rect">
            <a:avLst/>
          </a:prstGeom>
          <a:noFill/>
          <a:ln/>
        </p:spPr>
        <p:txBody>
          <a:bodyPr wrap="square" rtlCol="0" anchor="ctr"/>
          <a:lstStyle/>
          <a:p>
            <a:pPr indent="0" marL="0">
              <a:buNone/>
            </a:pPr>
            <a:r>
              <a:rPr lang="en-US" sz="1100" dirty="0">
                <a:solidFill>
                  <a:srgbClr val="94948C"/>
                </a:solidFill>
                <a:latin typeface="Courier New" pitchFamily="34" charset="0"/>
                <a:ea typeface="Courier New" pitchFamily="34" charset="-122"/>
                <a:cs typeface="Courier New" pitchFamily="34" charset="-120"/>
              </a:rPr>
              <a:t>v0.1 draft   ·   CC BY 4.0   ·   DOI 10.5281/zenodo.21251831   ·   github.com/identara/iga-operating-framework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The operating layer of identity governance is undocumented</a:t>
            </a:r>
            <a:endParaRPr lang="en-US" sz="3300" dirty="0"/>
          </a:p>
        </p:txBody>
      </p:sp>
      <p:pic>
        <p:nvPicPr>
          <p:cNvPr id="3" name="Image 0" descr="/home/claude/deckbuild/pngwarm/d-gap.png">    </p:cNvPr>
          <p:cNvPicPr>
            <a:picLocks noChangeAspect="1"/>
          </p:cNvPicPr>
          <p:nvPr/>
        </p:nvPicPr>
        <p:blipFill>
          <a:blip r:embed="rId2"/>
          <a:stretch>
            <a:fillRect/>
          </a:stretch>
        </p:blipFill>
        <p:spPr>
          <a:xfrm>
            <a:off x="1143000" y="1234440"/>
            <a:ext cx="9509760" cy="4190742"/>
          </a:xfrm>
          <a:prstGeom prst="rect">
            <a:avLst/>
          </a:prstGeom>
        </p:spPr>
      </p:pic>
      <p:sp>
        <p:nvSpPr>
          <p:cNvPr id="4" name="Text 1"/>
          <p:cNvSpPr/>
          <p:nvPr/>
        </p:nvSpPr>
        <p:spPr>
          <a:xfrm>
            <a:off x="640080" y="5806440"/>
            <a:ext cx="10881360" cy="548640"/>
          </a:xfrm>
          <a:prstGeom prst="rect">
            <a:avLst/>
          </a:prstGeom>
          <a:noFill/>
          <a:ln/>
        </p:spPr>
        <p:txBody>
          <a:bodyPr wrap="square" rtlCol="0" anchor="ctr"/>
          <a:lstStyle/>
          <a:p>
            <a:pPr algn="ctr" indent="0" marL="0">
              <a:buNone/>
            </a:pPr>
            <a:r>
              <a:rPr lang="en-US" sz="1600" b="1" dirty="0">
                <a:solidFill>
                  <a:srgbClr val="1C1C1A"/>
                </a:solidFill>
                <a:latin typeface="Arial" pitchFamily="34" charset="0"/>
                <a:ea typeface="Arial" pitchFamily="34" charset="-122"/>
                <a:cs typeface="Arial" pitchFamily="34" charset="-120"/>
              </a:rPr>
              <a:t>This framework publishes that layer once, in the open, so an engagement carries judgment instead of scaffolding.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What the framework supplies, and what stays yours</a:t>
            </a:r>
            <a:endParaRPr lang="en-US" sz="3300" dirty="0"/>
          </a:p>
        </p:txBody>
      </p:sp>
      <p:pic>
        <p:nvPicPr>
          <p:cNvPr id="3" name="Image 0" descr="/home/claude/deckbuild/pngwarm/d-form.png">    </p:cNvPr>
          <p:cNvPicPr>
            <a:picLocks noChangeAspect="1"/>
          </p:cNvPicPr>
          <p:nvPr/>
        </p:nvPicPr>
        <p:blipFill>
          <a:blip r:embed="rId2"/>
          <a:stretch>
            <a:fillRect/>
          </a:stretch>
        </p:blipFill>
        <p:spPr>
          <a:xfrm>
            <a:off x="868680" y="1325880"/>
            <a:ext cx="10424160" cy="47703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4297680"/>
            <a:ext cx="11430000" cy="2103120"/>
          </a:xfrm>
          <a:prstGeom prst="rect">
            <a:avLst/>
          </a:prstGeom>
          <a:noFill/>
          <a:ln/>
        </p:spPr>
        <p:txBody>
          <a:bodyPr wrap="square" lIns="0" tIns="0" rIns="0" bIns="0" rtlCol="0" anchor="ctr"/>
          <a:lstStyle/>
          <a:p>
            <a:pPr algn="l" indent="0" marL="0">
              <a:buNone/>
            </a:pPr>
            <a:r>
              <a:rPr lang="en-US" sz="11000" i="1" dirty="0">
                <a:solidFill>
                  <a:srgbClr val="2A2A27"/>
                </a:solidFill>
                <a:latin typeface="Georgia" pitchFamily="34" charset="0"/>
                <a:ea typeface="Georgia" pitchFamily="34" charset="-122"/>
                <a:cs typeface="Georgia" pitchFamily="34" charset="-120"/>
              </a:rPr>
              <a:t>why who what</a:t>
            </a:r>
            <a:endParaRPr lang="en-US" sz="11000" dirty="0"/>
          </a:p>
        </p:txBody>
      </p:sp>
      <p:sp>
        <p:nvSpPr>
          <p:cNvPr id="3" name="Text 1"/>
          <p:cNvSpPr/>
          <p:nvPr/>
        </p:nvSpPr>
        <p:spPr>
          <a:xfrm>
            <a:off x="822960" y="2148840"/>
            <a:ext cx="10058400" cy="365760"/>
          </a:xfrm>
          <a:prstGeom prst="rect">
            <a:avLst/>
          </a:prstGeom>
          <a:noFill/>
          <a:ln/>
        </p:spPr>
        <p:txBody>
          <a:bodyPr wrap="square" rtlCol="0" anchor="ctr"/>
          <a:lstStyle/>
          <a:p>
            <a:pPr indent="0" marL="0">
              <a:buNone/>
            </a:pPr>
            <a:r>
              <a:rPr lang="en-US" sz="1300" b="1" spc="350" kern="0" dirty="0">
                <a:solidFill>
                  <a:srgbClr val="A2A299"/>
                </a:solidFill>
                <a:latin typeface="Courier New" pitchFamily="34" charset="0"/>
                <a:ea typeface="Courier New" pitchFamily="34" charset="-122"/>
                <a:cs typeface="Courier New" pitchFamily="34" charset="-120"/>
              </a:rPr>
              <a:t>PART ONE</a:t>
            </a:r>
            <a:endParaRPr lang="en-US" sz="1300" dirty="0"/>
          </a:p>
        </p:txBody>
      </p:sp>
      <p:sp>
        <p:nvSpPr>
          <p:cNvPr id="4" name="Text 2"/>
          <p:cNvSpPr/>
          <p:nvPr/>
        </p:nvSpPr>
        <p:spPr>
          <a:xfrm>
            <a:off x="822960" y="2560320"/>
            <a:ext cx="10515600" cy="1005840"/>
          </a:xfrm>
          <a:prstGeom prst="rect">
            <a:avLst/>
          </a:prstGeom>
          <a:noFill/>
          <a:ln/>
        </p:spPr>
        <p:txBody>
          <a:bodyPr wrap="square" rtlCol="0" anchor="ctr"/>
          <a:lstStyle/>
          <a:p>
            <a:pPr indent="0" marL="0">
              <a:buNone/>
            </a:pPr>
            <a:r>
              <a:rPr lang="en-US" sz="4200" b="1" dirty="0">
                <a:solidFill>
                  <a:srgbClr val="EFEEE9"/>
                </a:solidFill>
                <a:latin typeface="Georgia" pitchFamily="34" charset="0"/>
                <a:ea typeface="Georgia" pitchFamily="34" charset="-122"/>
                <a:cs typeface="Georgia" pitchFamily="34" charset="-120"/>
              </a:rPr>
              <a:t>The operating core</a:t>
            </a:r>
            <a:endParaRPr lang="en-US" sz="4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Six layers, one build order</a:t>
            </a:r>
            <a:endParaRPr lang="en-US" sz="3300" dirty="0"/>
          </a:p>
        </p:txBody>
      </p:sp>
      <p:pic>
        <p:nvPicPr>
          <p:cNvPr id="3" name="Image 0" descr="/home/claude/deckbuild/pngwarm/fig-01-framework-at-a-glance.png">    </p:cNvPr>
          <p:cNvPicPr>
            <a:picLocks noChangeAspect="1"/>
          </p:cNvPicPr>
          <p:nvPr/>
        </p:nvPicPr>
        <p:blipFill>
          <a:blip r:embed="rId2"/>
          <a:stretch>
            <a:fillRect/>
          </a:stretch>
        </p:blipFill>
        <p:spPr>
          <a:xfrm>
            <a:off x="502920" y="1234440"/>
            <a:ext cx="6949440" cy="4974336"/>
          </a:xfrm>
          <a:prstGeom prst="rect">
            <a:avLst/>
          </a:prstGeom>
        </p:spPr>
      </p:pic>
      <p:sp>
        <p:nvSpPr>
          <p:cNvPr id="4" name="Text 1"/>
          <p:cNvSpPr/>
          <p:nvPr/>
        </p:nvSpPr>
        <p:spPr>
          <a:xfrm>
            <a:off x="7726680" y="1737360"/>
            <a:ext cx="3840480" cy="4023360"/>
          </a:xfrm>
          <a:prstGeom prst="rect">
            <a:avLst/>
          </a:prstGeom>
          <a:noFill/>
          <a:ln/>
        </p:spPr>
        <p:txBody>
          <a:bodyPr wrap="square" rtlCol="0" anchor="ctr"/>
          <a:lstStyle/>
          <a:p>
            <a:pPr marL="177800" indent="-177800">
              <a:spcAft>
                <a:spcPts val="800"/>
              </a:spcAft>
              <a:buSzPct val="100000"/>
              <a:buChar char="•"/>
            </a:pPr>
            <a:r>
              <a:rPr lang="en-US" sz="1450" dirty="0">
                <a:solidFill>
                  <a:srgbClr val="1C1C1A"/>
                </a:solidFill>
                <a:latin typeface="Arial" pitchFamily="34" charset="0"/>
                <a:ea typeface="Arial" pitchFamily="34" charset="-122"/>
                <a:cs typeface="Arial" pitchFamily="34" charset="-120"/>
              </a:rPr>
              <a:t>Each layer answers one question, and each depends on the ones above it: authority before owners, owners before scope, scope before sequence.</a:t>
            </a:r>
            <a:endParaRPr lang="en-US" sz="1450" dirty="0"/>
          </a:p>
          <a:p>
            <a:pPr marL="177800" indent="-177800">
              <a:spcAft>
                <a:spcPts val="800"/>
              </a:spcAft>
              <a:buSzPct val="100000"/>
              <a:buChar char="•"/>
            </a:pPr>
            <a:r>
              <a:rPr lang="en-US" sz="1450" dirty="0">
                <a:solidFill>
                  <a:srgbClr val="1C1C1A"/>
                </a:solidFill>
                <a:latin typeface="Arial" pitchFamily="34" charset="0"/>
                <a:ea typeface="Arial" pitchFamily="34" charset="-122"/>
                <a:cs typeface="Arial" pitchFamily="34" charset="-120"/>
              </a:rPr>
              <a:t>Skipping a layer produces a recognizable failure, which is why every chapter carries failure modes with observable signals.</a:t>
            </a:r>
            <a:endParaRPr lang="en-US" sz="1450" dirty="0"/>
          </a:p>
          <a:p>
            <a:pPr marL="177800" indent="-177800">
              <a:spcAft>
                <a:spcPts val="800"/>
              </a:spcAft>
              <a:buSzPct val="100000"/>
              <a:buChar char="•"/>
            </a:pPr>
            <a:r>
              <a:rPr lang="en-US" sz="1450" dirty="0">
                <a:solidFill>
                  <a:srgbClr val="1C1C1A"/>
                </a:solidFill>
                <a:latin typeface="Arial" pitchFamily="34" charset="0"/>
                <a:ea typeface="Arial" pitchFamily="34" charset="-122"/>
                <a:cs typeface="Arial" pitchFamily="34" charset="-120"/>
              </a:rPr>
              <a:t>Solid metric connections are confirmed; dashed ones are proposed and wait on pilot evidence.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Two independent axes: where you start, what you become</a:t>
            </a:r>
            <a:endParaRPr lang="en-US" sz="3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7772400" cy="914400"/>
        </p:xfrm>
        <a:graphic>
          <a:graphicData uri="http://schemas.openxmlformats.org/drawingml/2006/table">
            <a:tbl>
              <a:tblPr/>
              <a:tblGrid>
                <a:gridCol w="1554480"/>
                <a:gridCol w="2066544"/>
                <a:gridCol w="2075688"/>
                <a:gridCol w="2075688"/>
              </a:tblGrid>
              <a:tr h="685800">
                <a:tc>
                  <a:txBody>
                    <a:bodyPr/>
                    <a:lstStyle/>
                    <a:p>
                      <a:pPr indent="0" marL="0">
                        <a:buNone/>
                      </a:pP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solidFill>
                      <a:srgbClr val="F8F7F3"/>
                    </a:solidFill>
                  </a:tcPr>
                </a:tc>
                <a:tc>
                  <a:txBody>
                    <a:bodyPr/>
                    <a:lstStyle/>
                    <a:p>
                      <a:pPr indent="0" marL="0">
                        <a:buNone/>
                      </a:pPr>
                      <a:r>
                        <a:rPr lang="en-US" sz="1250" b="1" dirty="0">
                          <a:solidFill>
                            <a:srgbClr val="1C1C1A"/>
                          </a:solidFill>
                          <a:latin typeface="Arial" pitchFamily="34" charset="0"/>
                          <a:ea typeface="Arial" pitchFamily="34" charset="-122"/>
                          <a:cs typeface="Arial" pitchFamily="34" charset="-120"/>
                        </a:rPr>
                        <a:t>Regulated enterprise</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solidFill>
                      <a:srgbClr val="F8F7F3"/>
                    </a:solidFill>
                  </a:tcPr>
                </a:tc>
                <a:tc>
                  <a:txBody>
                    <a:bodyPr/>
                    <a:lstStyle/>
                    <a:p>
                      <a:pPr indent="0" marL="0">
                        <a:buNone/>
                      </a:pPr>
                      <a:r>
                        <a:rPr lang="en-US" sz="1250" b="1" dirty="0">
                          <a:solidFill>
                            <a:srgbClr val="1C1C1A"/>
                          </a:solidFill>
                          <a:latin typeface="Arial" pitchFamily="34" charset="0"/>
                          <a:ea typeface="Arial" pitchFamily="34" charset="-122"/>
                          <a:cs typeface="Arial" pitchFamily="34" charset="-120"/>
                        </a:rPr>
                        <a:t>Small product organization</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solidFill>
                      <a:srgbClr val="F8F7F3"/>
                    </a:solidFill>
                  </a:tcPr>
                </a:tc>
                <a:tc>
                  <a:txBody>
                    <a:bodyPr/>
                    <a:lstStyle/>
                    <a:p>
                      <a:pPr indent="0" marL="0">
                        <a:buNone/>
                      </a:pPr>
                      <a:r>
                        <a:rPr lang="en-US" sz="1250" b="1" dirty="0">
                          <a:solidFill>
                            <a:srgbClr val="1C1C1A"/>
                          </a:solidFill>
                          <a:latin typeface="Arial" pitchFamily="34" charset="0"/>
                          <a:ea typeface="Arial" pitchFamily="34" charset="-122"/>
                          <a:cs typeface="Arial" pitchFamily="34" charset="-120"/>
                        </a:rPr>
                        <a:t>Public sector body</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solidFill>
                      <a:srgbClr val="F8F7F3"/>
                    </a:solidFill>
                  </a:tcPr>
                </a:tc>
              </a:tr>
              <a:tr h="685800">
                <a:tc>
                  <a:txBody>
                    <a:bodyPr/>
                    <a:lstStyle/>
                    <a:p>
                      <a:pPr indent="0" marL="0">
                        <a:buNone/>
                      </a:pPr>
                      <a:r>
                        <a:rPr lang="en-US" sz="1250" b="1" dirty="0">
                          <a:solidFill>
                            <a:srgbClr val="1C1C1A"/>
                          </a:solidFill>
                          <a:latin typeface="Arial" pitchFamily="34" charset="0"/>
                          <a:ea typeface="Arial" pitchFamily="34" charset="-122"/>
                          <a:cs typeface="Arial" pitchFamily="34" charset="-120"/>
                        </a:rPr>
                        <a:t>Greenfield</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solidFill>
                      <a:srgbClr val="F8F7F3"/>
                    </a:solidFill>
                  </a:tcPr>
                </a:tc>
                <a:tc>
                  <a:txBody>
                    <a:bodyPr/>
                    <a:lstStyle/>
                    <a:p>
                      <a:pPr indent="0" marL="0">
                        <a:buNone/>
                      </a:pPr>
                      <a:r>
                        <a:rPr lang="en-US" sz="1250" dirty="0">
                          <a:solidFill>
                            <a:srgbClr val="1C1C1A"/>
                          </a:solidFill>
                          <a:latin typeface="Arial" pitchFamily="34" charset="0"/>
                          <a:ea typeface="Arial" pitchFamily="34" charset="-122"/>
                          <a:cs typeface="Arial" pitchFamily="34" charset="-120"/>
                        </a:rPr>
                        <a:t>New banking subsidiary</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tcPr>
                </a:tc>
                <a:tc>
                  <a:txBody>
                    <a:bodyPr/>
                    <a:lstStyle/>
                    <a:p>
                      <a:pPr indent="0" marL="0">
                        <a:buNone/>
                      </a:pPr>
                      <a:r>
                        <a:rPr lang="en-US" sz="1250" dirty="0">
                          <a:solidFill>
                            <a:srgbClr val="1C1C1A"/>
                          </a:solidFill>
                          <a:latin typeface="Arial" pitchFamily="34" charset="0"/>
                          <a:ea typeface="Arial" pitchFamily="34" charset="-122"/>
                          <a:cs typeface="Arial" pitchFamily="34" charset="-120"/>
                        </a:rPr>
                        <a:t>Startup standing up its first controls</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tcPr>
                </a:tc>
                <a:tc>
                  <a:txBody>
                    <a:bodyPr/>
                    <a:lstStyle/>
                    <a:p>
                      <a:pPr indent="0" marL="0">
                        <a:buNone/>
                      </a:pPr>
                      <a:r>
                        <a:rPr lang="en-US" sz="1250" dirty="0">
                          <a:solidFill>
                            <a:srgbClr val="1C1C1A"/>
                          </a:solidFill>
                          <a:latin typeface="Arial" pitchFamily="34" charset="0"/>
                          <a:ea typeface="Arial" pitchFamily="34" charset="-122"/>
                          <a:cs typeface="Arial" pitchFamily="34" charset="-120"/>
                        </a:rPr>
                        <a:t>Newly created agency</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tcPr>
                </a:tc>
              </a:tr>
              <a:tr h="685800">
                <a:tc>
                  <a:txBody>
                    <a:bodyPr/>
                    <a:lstStyle/>
                    <a:p>
                      <a:pPr indent="0" marL="0">
                        <a:buNone/>
                      </a:pPr>
                      <a:r>
                        <a:rPr lang="en-US" sz="1250" b="1" dirty="0">
                          <a:solidFill>
                            <a:srgbClr val="1C1C1A"/>
                          </a:solidFill>
                          <a:latin typeface="Arial" pitchFamily="34" charset="0"/>
                          <a:ea typeface="Arial" pitchFamily="34" charset="-122"/>
                          <a:cs typeface="Arial" pitchFamily="34" charset="-120"/>
                        </a:rPr>
                        <a:t>Bluefield</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solidFill>
                      <a:srgbClr val="F8F7F3"/>
                    </a:solidFill>
                  </a:tcPr>
                </a:tc>
                <a:tc>
                  <a:txBody>
                    <a:bodyPr/>
                    <a:lstStyle/>
                    <a:p>
                      <a:pPr indent="0" marL="0">
                        <a:buNone/>
                      </a:pPr>
                      <a:r>
                        <a:rPr lang="en-US" sz="1250" dirty="0">
                          <a:solidFill>
                            <a:srgbClr val="1C1C1A"/>
                          </a:solidFill>
                          <a:latin typeface="Arial" pitchFamily="34" charset="0"/>
                          <a:ea typeface="Arial" pitchFamily="34" charset="-122"/>
                          <a:cs typeface="Arial" pitchFamily="34" charset="-120"/>
                        </a:rPr>
                        <a:t>Bank mid-migration to a new platform</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tcPr>
                </a:tc>
                <a:tc>
                  <a:txBody>
                    <a:bodyPr/>
                    <a:lstStyle/>
                    <a:p>
                      <a:pPr indent="0" marL="0">
                        <a:buNone/>
                      </a:pPr>
                      <a:r>
                        <a:rPr lang="en-US" sz="1250" dirty="0">
                          <a:solidFill>
                            <a:srgbClr val="1C1C1A"/>
                          </a:solidFill>
                          <a:latin typeface="Arial" pitchFamily="34" charset="0"/>
                          <a:ea typeface="Arial" pitchFamily="34" charset="-122"/>
                          <a:cs typeface="Arial" pitchFamily="34" charset="-120"/>
                        </a:rPr>
                        <a:t>Scale-up replacing its early tooling</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tcPr>
                </a:tc>
                <a:tc>
                  <a:txBody>
                    <a:bodyPr/>
                    <a:lstStyle/>
                    <a:p>
                      <a:pPr indent="0" marL="0">
                        <a:buNone/>
                      </a:pPr>
                      <a:r>
                        <a:rPr lang="en-US" sz="1250" dirty="0">
                          <a:solidFill>
                            <a:srgbClr val="1C1C1A"/>
                          </a:solidFill>
                          <a:latin typeface="Arial" pitchFamily="34" charset="0"/>
                          <a:ea typeface="Arial" pitchFamily="34" charset="-122"/>
                          <a:cs typeface="Arial" pitchFamily="34" charset="-120"/>
                        </a:rPr>
                        <a:t>Ministry modernizing one directorate</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tcPr>
                </a:tc>
              </a:tr>
              <a:tr h="685800">
                <a:tc>
                  <a:txBody>
                    <a:bodyPr/>
                    <a:lstStyle/>
                    <a:p>
                      <a:pPr indent="0" marL="0">
                        <a:buNone/>
                      </a:pPr>
                      <a:r>
                        <a:rPr lang="en-US" sz="1250" b="1" dirty="0">
                          <a:solidFill>
                            <a:srgbClr val="1C1C1A"/>
                          </a:solidFill>
                          <a:latin typeface="Arial" pitchFamily="34" charset="0"/>
                          <a:ea typeface="Arial" pitchFamily="34" charset="-122"/>
                          <a:cs typeface="Arial" pitchFamily="34" charset="-120"/>
                        </a:rPr>
                        <a:t>Brownfield</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solidFill>
                      <a:srgbClr val="F8F7F3"/>
                    </a:solidFill>
                  </a:tcPr>
                </a:tc>
                <a:tc>
                  <a:txBody>
                    <a:bodyPr/>
                    <a:lstStyle/>
                    <a:p>
                      <a:pPr indent="0" marL="0">
                        <a:buNone/>
                      </a:pPr>
                      <a:r>
                        <a:rPr lang="en-US" sz="1250" dirty="0">
                          <a:solidFill>
                            <a:srgbClr val="1C1C1A"/>
                          </a:solidFill>
                          <a:latin typeface="Arial" pitchFamily="34" charset="0"/>
                          <a:ea typeface="Arial" pitchFamily="34" charset="-122"/>
                          <a:cs typeface="Arial" pitchFamily="34" charset="-120"/>
                        </a:rPr>
                        <a:t>Established insurer, never governed centrally</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tcPr>
                </a:tc>
                <a:tc>
                  <a:txBody>
                    <a:bodyPr/>
                    <a:lstStyle/>
                    <a:p>
                      <a:pPr indent="0" marL="0">
                        <a:buNone/>
                      </a:pPr>
                      <a:r>
                        <a:rPr lang="en-US" sz="1250" dirty="0">
                          <a:solidFill>
                            <a:srgbClr val="1C1C1A"/>
                          </a:solidFill>
                          <a:latin typeface="Arial" pitchFamily="34" charset="0"/>
                          <a:ea typeface="Arial" pitchFamily="34" charset="-122"/>
                          <a:cs typeface="Arial" pitchFamily="34" charset="-120"/>
                        </a:rPr>
                        <a:t>Ten-year-old SaaS with entitlement debt</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tcPr>
                </a:tc>
                <a:tc>
                  <a:txBody>
                    <a:bodyPr/>
                    <a:lstStyle/>
                    <a:p>
                      <a:pPr indent="0" marL="0">
                        <a:buNone/>
                      </a:pPr>
                      <a:r>
                        <a:rPr lang="en-US" sz="1250" dirty="0">
                          <a:solidFill>
                            <a:srgbClr val="1C1C1A"/>
                          </a:solidFill>
                          <a:latin typeface="Arial" pitchFamily="34" charset="0"/>
                          <a:ea typeface="Arial" pitchFamily="34" charset="-122"/>
                          <a:cs typeface="Arial" pitchFamily="34" charset="-120"/>
                        </a:rPr>
                        <a:t>Legacy department estate</a:t>
                      </a:r>
                      <a:endParaRPr lang="en-US" sz="1250" dirty="0">
                        <a:latin typeface="Arial" charset="0"/>
                        <a:ea typeface="Arial" charset="0"/>
                        <a:cs typeface="Arial" charset="0"/>
                      </a:endParaRPr>
                    </a:p>
                  </a:txBody>
                  <a:tcPr marL="91440" marR="91440" marT="45720" marB="45720" anchor="ctr">
                    <a:lnL w="9525" cap="flat" cmpd="sng" algn="ctr">
                      <a:solidFill>
                        <a:srgbClr val="DAD8CF"/>
                      </a:solidFill>
                      <a:prstDash val="solid"/>
                      <a:round/>
                      <a:headEnd type="none" w="med" len="med"/>
                      <a:tailEnd type="none" w="med" len="med"/>
                    </a:lnL>
                    <a:lnR w="9525" cap="flat" cmpd="sng" algn="ctr">
                      <a:solidFill>
                        <a:srgbClr val="DAD8CF"/>
                      </a:solidFill>
                      <a:prstDash val="solid"/>
                      <a:round/>
                      <a:headEnd type="none" w="med" len="med"/>
                      <a:tailEnd type="none" w="med" len="med"/>
                    </a:lnR>
                    <a:lnT w="9525" cap="flat" cmpd="sng" algn="ctr">
                      <a:solidFill>
                        <a:srgbClr val="DAD8CF"/>
                      </a:solidFill>
                      <a:prstDash val="solid"/>
                      <a:round/>
                      <a:headEnd type="none" w="med" len="med"/>
                      <a:tailEnd type="none" w="med" len="med"/>
                    </a:lnT>
                    <a:lnB w="9525" cap="flat" cmpd="sng" algn="ctr">
                      <a:solidFill>
                        <a:srgbClr val="DAD8CF"/>
                      </a:solidFill>
                      <a:prstDash val="solid"/>
                      <a:round/>
                      <a:headEnd type="none" w="med" len="med"/>
                      <a:tailEnd type="none" w="med" len="med"/>
                    </a:lnB>
                  </a:tcPr>
                </a:tc>
              </a:tr>
            </a:tbl>
          </a:graphicData>
        </a:graphic>
      </p:graphicFrame>
      <p:sp>
        <p:nvSpPr>
          <p:cNvPr id="4" name="Text 1"/>
          <p:cNvSpPr/>
          <p:nvPr/>
        </p:nvSpPr>
        <p:spPr>
          <a:xfrm>
            <a:off x="8778240" y="1828800"/>
            <a:ext cx="2834640" cy="3108960"/>
          </a:xfrm>
          <a:prstGeom prst="rect">
            <a:avLst/>
          </a:prstGeom>
          <a:noFill/>
          <a:ln/>
        </p:spPr>
        <p:txBody>
          <a:bodyPr wrap="square" rtlCol="0" anchor="ctr"/>
          <a:lstStyle/>
          <a:p>
            <a:pPr marL="177800" indent="-177800">
              <a:spcAft>
                <a:spcPts val="800"/>
              </a:spcAft>
              <a:buSzPct val="100000"/>
              <a:buChar char="•"/>
            </a:pPr>
            <a:r>
              <a:rPr lang="en-US" sz="1350" dirty="0">
                <a:solidFill>
                  <a:srgbClr val="1C1C1A"/>
                </a:solidFill>
                <a:latin typeface="Arial" pitchFamily="34" charset="0"/>
                <a:ea typeface="Arial" pitchFamily="34" charset="-122"/>
                <a:cs typeface="Arial" pitchFamily="34" charset="-120"/>
              </a:rPr>
              <a:t>Starting state sets the on-ramp: chapter 4 defines one per state.</a:t>
            </a:r>
            <a:endParaRPr lang="en-US" sz="1350" dirty="0"/>
          </a:p>
          <a:p>
            <a:pPr marL="177800" indent="-177800">
              <a:spcAft>
                <a:spcPts val="800"/>
              </a:spcAft>
              <a:buSzPct val="100000"/>
              <a:buChar char="•"/>
            </a:pPr>
            <a:r>
              <a:rPr lang="en-US" sz="1350" dirty="0">
                <a:solidFill>
                  <a:srgbClr val="1C1C1A"/>
                </a:solidFill>
                <a:latin typeface="Arial" pitchFamily="34" charset="0"/>
                <a:ea typeface="Arial" pitchFamily="34" charset="-122"/>
                <a:cs typeface="Arial" pitchFamily="34" charset="-120"/>
              </a:rPr>
              <a:t>Archetype sets the target shape each layer takes, carried by profiles.</a:t>
            </a:r>
            <a:endParaRPr lang="en-US" sz="1350" dirty="0"/>
          </a:p>
          <a:p>
            <a:pPr marL="177800" indent="-177800">
              <a:spcAft>
                <a:spcPts val="800"/>
              </a:spcAft>
              <a:buSzPct val="100000"/>
              <a:buChar char="•"/>
            </a:pPr>
            <a:r>
              <a:rPr lang="en-US" sz="1350" dirty="0">
                <a:solidFill>
                  <a:srgbClr val="1C1C1A"/>
                </a:solidFill>
                <a:latin typeface="Arial" pitchFamily="34" charset="0"/>
                <a:ea typeface="Arial" pitchFamily="34" charset="-122"/>
                <a:cs typeface="Arial" pitchFamily="34" charset="-120"/>
              </a:rPr>
              <a:t>The six layers are the same in every cell.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589520" y="18288"/>
            <a:ext cx="4297680" cy="1143000"/>
          </a:xfrm>
          <a:prstGeom prst="rect">
            <a:avLst/>
          </a:prstGeom>
          <a:noFill/>
          <a:ln/>
        </p:spPr>
        <p:txBody>
          <a:bodyPr wrap="square" lIns="0" tIns="0" rIns="0" bIns="0" rtlCol="0" anchor="ctr"/>
          <a:lstStyle/>
          <a:p>
            <a:pPr algn="r" indent="0" marL="0">
              <a:buNone/>
            </a:pPr>
            <a:r>
              <a:rPr lang="en-US" sz="7600" i="1" dirty="0">
                <a:solidFill>
                  <a:srgbClr val="E0DED4"/>
                </a:solidFill>
                <a:latin typeface="Georgia" pitchFamily="34" charset="0"/>
                <a:ea typeface="Georgia" pitchFamily="34" charset="-122"/>
                <a:cs typeface="Georgia" pitchFamily="34" charset="-120"/>
              </a:rPr>
              <a:t>why</a:t>
            </a:r>
            <a:endParaRPr lang="en-US" sz="7600" dirty="0"/>
          </a:p>
        </p:txBody>
      </p:sp>
      <p:pic>
        <p:nvPicPr>
          <p:cNvPr id="3" name="Image 0" descr="/home/claude/deckbuild/pngwarm/strip-01-mandate.png">    </p:cNvPr>
          <p:cNvPicPr>
            <a:picLocks noChangeAspect="1"/>
          </p:cNvPicPr>
          <p:nvPr/>
        </p:nvPicPr>
        <p:blipFill>
          <a:blip r:embed="rId2"/>
          <a:stretch>
            <a:fillRect/>
          </a:stretch>
        </p:blipFill>
        <p:spPr>
          <a:xfrm>
            <a:off x="640080" y="411480"/>
            <a:ext cx="5852160" cy="308008"/>
          </a:xfrm>
          <a:prstGeom prst="rect">
            <a:avLst/>
          </a:prstGeom>
        </p:spPr>
      </p:pic>
      <p:sp>
        <p:nvSpPr>
          <p:cNvPr id="4" name="Text 1"/>
          <p:cNvSpPr/>
          <p:nvPr/>
        </p:nvSpPr>
        <p:spPr>
          <a:xfrm>
            <a:off x="640080" y="960120"/>
            <a:ext cx="7772400" cy="594360"/>
          </a:xfrm>
          <a:prstGeom prst="rect">
            <a:avLst/>
          </a:prstGeom>
          <a:noFill/>
          <a:ln/>
        </p:spPr>
        <p:txBody>
          <a:bodyPr wrap="square" lIns="0" tIns="0" rIns="0" bIns="0" rtlCol="0" anchor="ctr"/>
          <a:lstStyle/>
          <a:p>
            <a:pPr indent="0" marL="0">
              <a:buNone/>
            </a:pPr>
            <a:r>
              <a:rPr lang="en-US" sz="3000" b="1" dirty="0">
                <a:solidFill>
                  <a:srgbClr val="1C1C1A"/>
                </a:solidFill>
                <a:latin typeface="Georgia" pitchFamily="34" charset="0"/>
                <a:ea typeface="Georgia" pitchFamily="34" charset="-122"/>
                <a:cs typeface="Georgia" pitchFamily="34" charset="-120"/>
              </a:rPr>
              <a:t>1 · Mandate</a:t>
            </a:r>
            <a:endParaRPr lang="en-US" sz="3000" dirty="0"/>
          </a:p>
        </p:txBody>
      </p:sp>
      <p:pic>
        <p:nvPicPr>
          <p:cNvPr id="5" name="Image 1" descr="/home/claude/deckbuild/pngwarm/d-layer1.png">    </p:cNvPr>
          <p:cNvPicPr>
            <a:picLocks noChangeAspect="1"/>
          </p:cNvPicPr>
          <p:nvPr/>
        </p:nvPicPr>
        <p:blipFill>
          <a:blip r:embed="rId3"/>
          <a:stretch>
            <a:fillRect/>
          </a:stretch>
        </p:blipFill>
        <p:spPr>
          <a:xfrm>
            <a:off x="502920" y="1783080"/>
            <a:ext cx="6035040" cy="3508744"/>
          </a:xfrm>
          <a:prstGeom prst="rect">
            <a:avLst/>
          </a:prstGeom>
        </p:spPr>
      </p:pic>
      <p:sp>
        <p:nvSpPr>
          <p:cNvPr id="6" name="Shape 2"/>
          <p:cNvSpPr/>
          <p:nvPr/>
        </p:nvSpPr>
        <p:spPr>
          <a:xfrm>
            <a:off x="7635240" y="2103120"/>
            <a:ext cx="3931920" cy="2606040"/>
          </a:xfrm>
          <a:prstGeom prst="roundRect">
            <a:avLst>
              <a:gd name="adj" fmla="val 2807"/>
            </a:avLst>
          </a:prstGeom>
          <a:solidFill>
            <a:srgbClr val="E7E5DE"/>
          </a:solidFill>
          <a:ln w="11430">
            <a:solidFill>
              <a:srgbClr val="D4D2C8"/>
            </a:solidFill>
            <a:prstDash val="solid"/>
          </a:ln>
        </p:spPr>
      </p:sp>
      <p:sp>
        <p:nvSpPr>
          <p:cNvPr id="7" name="Text 3"/>
          <p:cNvSpPr/>
          <p:nvPr/>
        </p:nvSpPr>
        <p:spPr>
          <a:xfrm>
            <a:off x="7909560" y="2331720"/>
            <a:ext cx="3383280" cy="320040"/>
          </a:xfrm>
          <a:prstGeom prst="rect">
            <a:avLst/>
          </a:prstGeom>
          <a:noFill/>
          <a:ln/>
        </p:spPr>
        <p:txBody>
          <a:bodyPr wrap="square" rtlCol="0" anchor="ctr"/>
          <a:lstStyle/>
          <a:p>
            <a:pPr indent="0" marL="0">
              <a:buNone/>
            </a:pPr>
            <a:r>
              <a:rPr lang="en-US" sz="1250" b="1" spc="100" kern="0" dirty="0">
                <a:solidFill>
                  <a:srgbClr val="1C1C1A"/>
                </a:solidFill>
                <a:latin typeface="Arial" pitchFamily="34" charset="0"/>
                <a:ea typeface="Arial" pitchFamily="34" charset="-122"/>
                <a:cs typeface="Arial" pitchFamily="34" charset="-120"/>
              </a:rPr>
              <a:t>How it breaks</a:t>
            </a:r>
            <a:endParaRPr lang="en-US" sz="1250" dirty="0"/>
          </a:p>
        </p:txBody>
      </p:sp>
      <p:sp>
        <p:nvSpPr>
          <p:cNvPr id="8" name="Text 4"/>
          <p:cNvSpPr/>
          <p:nvPr/>
        </p:nvSpPr>
        <p:spPr>
          <a:xfrm>
            <a:off x="7909560" y="2697480"/>
            <a:ext cx="3383280" cy="411480"/>
          </a:xfrm>
          <a:prstGeom prst="rect">
            <a:avLst/>
          </a:prstGeom>
          <a:noFill/>
          <a:ln/>
        </p:spPr>
        <p:txBody>
          <a:bodyPr wrap="square" rtlCol="0" anchor="ctr"/>
          <a:lstStyle/>
          <a:p>
            <a:pPr indent="0" marL="0">
              <a:buNone/>
            </a:pPr>
            <a:r>
              <a:rPr lang="en-US" sz="1700" b="1" dirty="0">
                <a:solidFill>
                  <a:srgbClr val="1C1C1A"/>
                </a:solidFill>
                <a:latin typeface="Georgia" pitchFamily="34" charset="0"/>
                <a:ea typeface="Georgia" pitchFamily="34" charset="-122"/>
                <a:cs typeface="Georgia" pitchFamily="34" charset="-120"/>
              </a:rPr>
              <a:t>F5 · Unfunded mandate</a:t>
            </a:r>
            <a:endParaRPr lang="en-US" sz="1700" dirty="0"/>
          </a:p>
        </p:txBody>
      </p:sp>
      <p:sp>
        <p:nvSpPr>
          <p:cNvPr id="9" name="Text 5"/>
          <p:cNvSpPr/>
          <p:nvPr/>
        </p:nvSpPr>
        <p:spPr>
          <a:xfrm>
            <a:off x="7909560" y="3200400"/>
            <a:ext cx="3383280" cy="1371600"/>
          </a:xfrm>
          <a:prstGeom prst="rect">
            <a:avLst/>
          </a:prstGeom>
          <a:noFill/>
          <a:ln/>
        </p:spPr>
        <p:txBody>
          <a:bodyPr wrap="square" rtlCol="0" anchor="ctr"/>
          <a:lstStyle/>
          <a:p>
            <a:pPr indent="0" marL="0">
              <a:buNone/>
            </a:pPr>
            <a:r>
              <a:rPr lang="en-US" sz="1250" dirty="0">
                <a:solidFill>
                  <a:srgbClr val="1C1C1A"/>
                </a:solidFill>
                <a:latin typeface="Arial" pitchFamily="34" charset="0"/>
                <a:ea typeface="Arial" pitchFamily="34" charset="-122"/>
                <a:cs typeface="Arial" pitchFamily="34" charset="-120"/>
              </a:rPr>
              <a:t>Observable signal: Certifications and reviews slip for capacity reasons while the charter's obligations stay unchanged.</a:t>
            </a:r>
            <a:endParaRPr lang="en-US" sz="1250" dirty="0"/>
          </a:p>
        </p:txBody>
      </p:sp>
      <p:sp>
        <p:nvSpPr>
          <p:cNvPr id="10" name="Text 6"/>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66665E"/>
                </a:solidFill>
                <a:latin typeface="Courier New" pitchFamily="34" charset="0"/>
                <a:ea typeface="Courier New" pitchFamily="34" charset="-122"/>
                <a:cs typeface="Courier New" pitchFamily="34" charset="-120"/>
              </a:rPr>
              <a:t>Companion: Program charter template   ·   full chapter: core/01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589520" y="18288"/>
            <a:ext cx="4297680" cy="1143000"/>
          </a:xfrm>
          <a:prstGeom prst="rect">
            <a:avLst/>
          </a:prstGeom>
          <a:noFill/>
          <a:ln/>
        </p:spPr>
        <p:txBody>
          <a:bodyPr wrap="square" lIns="0" tIns="0" rIns="0" bIns="0" rtlCol="0" anchor="ctr"/>
          <a:lstStyle/>
          <a:p>
            <a:pPr algn="r" indent="0" marL="0">
              <a:buNone/>
            </a:pPr>
            <a:r>
              <a:rPr lang="en-US" sz="7600" i="1" dirty="0">
                <a:solidFill>
                  <a:srgbClr val="E0DED4"/>
                </a:solidFill>
                <a:latin typeface="Georgia" pitchFamily="34" charset="0"/>
                <a:ea typeface="Georgia" pitchFamily="34" charset="-122"/>
                <a:cs typeface="Georgia" pitchFamily="34" charset="-120"/>
              </a:rPr>
              <a:t>who</a:t>
            </a:r>
            <a:endParaRPr lang="en-US" sz="7600" dirty="0"/>
          </a:p>
        </p:txBody>
      </p:sp>
      <p:pic>
        <p:nvPicPr>
          <p:cNvPr id="3" name="Image 0" descr="/home/claude/deckbuild/pngwarm/strip-02-ownership.png">    </p:cNvPr>
          <p:cNvPicPr>
            <a:picLocks noChangeAspect="1"/>
          </p:cNvPicPr>
          <p:nvPr/>
        </p:nvPicPr>
        <p:blipFill>
          <a:blip r:embed="rId2"/>
          <a:stretch>
            <a:fillRect/>
          </a:stretch>
        </p:blipFill>
        <p:spPr>
          <a:xfrm>
            <a:off x="640080" y="411480"/>
            <a:ext cx="5852160" cy="308008"/>
          </a:xfrm>
          <a:prstGeom prst="rect">
            <a:avLst/>
          </a:prstGeom>
        </p:spPr>
      </p:pic>
      <p:sp>
        <p:nvSpPr>
          <p:cNvPr id="4" name="Text 1"/>
          <p:cNvSpPr/>
          <p:nvPr/>
        </p:nvSpPr>
        <p:spPr>
          <a:xfrm>
            <a:off x="640080" y="960120"/>
            <a:ext cx="7772400" cy="594360"/>
          </a:xfrm>
          <a:prstGeom prst="rect">
            <a:avLst/>
          </a:prstGeom>
          <a:noFill/>
          <a:ln/>
        </p:spPr>
        <p:txBody>
          <a:bodyPr wrap="square" lIns="0" tIns="0" rIns="0" bIns="0" rtlCol="0" anchor="ctr"/>
          <a:lstStyle/>
          <a:p>
            <a:pPr indent="0" marL="0">
              <a:buNone/>
            </a:pPr>
            <a:r>
              <a:rPr lang="en-US" sz="3000" b="1" dirty="0">
                <a:solidFill>
                  <a:srgbClr val="1C1C1A"/>
                </a:solidFill>
                <a:latin typeface="Georgia" pitchFamily="34" charset="0"/>
                <a:ea typeface="Georgia" pitchFamily="34" charset="-122"/>
                <a:cs typeface="Georgia" pitchFamily="34" charset="-120"/>
              </a:rPr>
              <a:t>2 · Ownership</a:t>
            </a:r>
            <a:endParaRPr lang="en-US" sz="3000" dirty="0"/>
          </a:p>
        </p:txBody>
      </p:sp>
      <p:pic>
        <p:nvPicPr>
          <p:cNvPr id="5" name="Image 1" descr="/home/claude/deckbuild/pngwarm/d-layer2.png">    </p:cNvPr>
          <p:cNvPicPr>
            <a:picLocks noChangeAspect="1"/>
          </p:cNvPicPr>
          <p:nvPr/>
        </p:nvPicPr>
        <p:blipFill>
          <a:blip r:embed="rId3"/>
          <a:stretch>
            <a:fillRect/>
          </a:stretch>
        </p:blipFill>
        <p:spPr>
          <a:xfrm>
            <a:off x="502920" y="1783080"/>
            <a:ext cx="6675120" cy="2871854"/>
          </a:xfrm>
          <a:prstGeom prst="rect">
            <a:avLst/>
          </a:prstGeom>
        </p:spPr>
      </p:pic>
      <p:sp>
        <p:nvSpPr>
          <p:cNvPr id="6" name="Shape 2"/>
          <p:cNvSpPr/>
          <p:nvPr/>
        </p:nvSpPr>
        <p:spPr>
          <a:xfrm>
            <a:off x="7635240" y="2103120"/>
            <a:ext cx="3931920" cy="2606040"/>
          </a:xfrm>
          <a:prstGeom prst="roundRect">
            <a:avLst>
              <a:gd name="adj" fmla="val 2807"/>
            </a:avLst>
          </a:prstGeom>
          <a:solidFill>
            <a:srgbClr val="E7E5DE"/>
          </a:solidFill>
          <a:ln w="11430">
            <a:solidFill>
              <a:srgbClr val="D4D2C8"/>
            </a:solidFill>
            <a:prstDash val="solid"/>
          </a:ln>
        </p:spPr>
      </p:sp>
      <p:sp>
        <p:nvSpPr>
          <p:cNvPr id="7" name="Text 3"/>
          <p:cNvSpPr/>
          <p:nvPr/>
        </p:nvSpPr>
        <p:spPr>
          <a:xfrm>
            <a:off x="7909560" y="2331720"/>
            <a:ext cx="3383280" cy="320040"/>
          </a:xfrm>
          <a:prstGeom prst="rect">
            <a:avLst/>
          </a:prstGeom>
          <a:noFill/>
          <a:ln/>
        </p:spPr>
        <p:txBody>
          <a:bodyPr wrap="square" rtlCol="0" anchor="ctr"/>
          <a:lstStyle/>
          <a:p>
            <a:pPr indent="0" marL="0">
              <a:buNone/>
            </a:pPr>
            <a:r>
              <a:rPr lang="en-US" sz="1250" b="1" spc="100" kern="0" dirty="0">
                <a:solidFill>
                  <a:srgbClr val="1C1C1A"/>
                </a:solidFill>
                <a:latin typeface="Arial" pitchFamily="34" charset="0"/>
                <a:ea typeface="Arial" pitchFamily="34" charset="-122"/>
                <a:cs typeface="Arial" pitchFamily="34" charset="-120"/>
              </a:rPr>
              <a:t>How it breaks</a:t>
            </a:r>
            <a:endParaRPr lang="en-US" sz="1250" dirty="0"/>
          </a:p>
        </p:txBody>
      </p:sp>
      <p:sp>
        <p:nvSpPr>
          <p:cNvPr id="8" name="Text 4"/>
          <p:cNvSpPr/>
          <p:nvPr/>
        </p:nvSpPr>
        <p:spPr>
          <a:xfrm>
            <a:off x="7909560" y="2697480"/>
            <a:ext cx="3383280" cy="411480"/>
          </a:xfrm>
          <a:prstGeom prst="rect">
            <a:avLst/>
          </a:prstGeom>
          <a:noFill/>
          <a:ln/>
        </p:spPr>
        <p:txBody>
          <a:bodyPr wrap="square" rtlCol="0" anchor="ctr"/>
          <a:lstStyle/>
          <a:p>
            <a:pPr indent="0" marL="0">
              <a:buNone/>
            </a:pPr>
            <a:r>
              <a:rPr lang="en-US" sz="1700" b="1" dirty="0">
                <a:solidFill>
                  <a:srgbClr val="1C1C1A"/>
                </a:solidFill>
                <a:latin typeface="Georgia" pitchFamily="34" charset="0"/>
                <a:ea typeface="Georgia" pitchFamily="34" charset="-122"/>
                <a:cs typeface="Georgia" pitchFamily="34" charset="-120"/>
              </a:rPr>
              <a:t>F1 · IT by default</a:t>
            </a:r>
            <a:endParaRPr lang="en-US" sz="1700" dirty="0"/>
          </a:p>
        </p:txBody>
      </p:sp>
      <p:sp>
        <p:nvSpPr>
          <p:cNvPr id="9" name="Text 5"/>
          <p:cNvSpPr/>
          <p:nvPr/>
        </p:nvSpPr>
        <p:spPr>
          <a:xfrm>
            <a:off x="7909560" y="3200400"/>
            <a:ext cx="3383280" cy="1371600"/>
          </a:xfrm>
          <a:prstGeom prst="rect">
            <a:avLst/>
          </a:prstGeom>
          <a:noFill/>
          <a:ln/>
        </p:spPr>
        <p:txBody>
          <a:bodyPr wrap="square" rtlCol="0" anchor="ctr"/>
          <a:lstStyle/>
          <a:p>
            <a:pPr indent="0" marL="0">
              <a:buNone/>
            </a:pPr>
            <a:r>
              <a:rPr lang="en-US" sz="1250" dirty="0">
                <a:solidFill>
                  <a:srgbClr val="1C1C1A"/>
                </a:solidFill>
                <a:latin typeface="Arial" pitchFamily="34" charset="0"/>
                <a:ea typeface="Arial" pitchFamily="34" charset="-122"/>
                <a:cs typeface="Arial" pitchFamily="34" charset="-120"/>
              </a:rPr>
              <a:t>Observable signal: Access decisions sit with people who cannot judge business need, and certifications turn into formalities.</a:t>
            </a:r>
            <a:endParaRPr lang="en-US" sz="1250" dirty="0"/>
          </a:p>
        </p:txBody>
      </p:sp>
      <p:sp>
        <p:nvSpPr>
          <p:cNvPr id="10" name="Text 6"/>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66665E"/>
                </a:solidFill>
                <a:latin typeface="Courier New" pitchFamily="34" charset="0"/>
                <a:ea typeface="Courier New" pitchFamily="34" charset="-122"/>
                <a:cs typeface="Courier New" pitchFamily="34" charset="-120"/>
              </a:rPr>
              <a:t>Companion: Decision-rights and RACI starter   ·   full chapter: core/02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589520" y="18288"/>
            <a:ext cx="4297680" cy="1143000"/>
          </a:xfrm>
          <a:prstGeom prst="rect">
            <a:avLst/>
          </a:prstGeom>
          <a:noFill/>
          <a:ln/>
        </p:spPr>
        <p:txBody>
          <a:bodyPr wrap="square" lIns="0" tIns="0" rIns="0" bIns="0" rtlCol="0" anchor="ctr"/>
          <a:lstStyle/>
          <a:p>
            <a:pPr algn="r" indent="0" marL="0">
              <a:buNone/>
            </a:pPr>
            <a:r>
              <a:rPr lang="en-US" sz="7600" i="1" dirty="0">
                <a:solidFill>
                  <a:srgbClr val="E0DED4"/>
                </a:solidFill>
                <a:latin typeface="Georgia" pitchFamily="34" charset="0"/>
                <a:ea typeface="Georgia" pitchFamily="34" charset="-122"/>
                <a:cs typeface="Georgia" pitchFamily="34" charset="-120"/>
              </a:rPr>
              <a:t>what</a:t>
            </a:r>
            <a:endParaRPr lang="en-US" sz="7600" dirty="0"/>
          </a:p>
        </p:txBody>
      </p:sp>
      <p:pic>
        <p:nvPicPr>
          <p:cNvPr id="3" name="Image 0" descr="/home/claude/deckbuild/pngwarm/strip-03-scope.png">    </p:cNvPr>
          <p:cNvPicPr>
            <a:picLocks noChangeAspect="1"/>
          </p:cNvPicPr>
          <p:nvPr/>
        </p:nvPicPr>
        <p:blipFill>
          <a:blip r:embed="rId2"/>
          <a:stretch>
            <a:fillRect/>
          </a:stretch>
        </p:blipFill>
        <p:spPr>
          <a:xfrm>
            <a:off x="640080" y="411480"/>
            <a:ext cx="5852160" cy="308008"/>
          </a:xfrm>
          <a:prstGeom prst="rect">
            <a:avLst/>
          </a:prstGeom>
        </p:spPr>
      </p:pic>
      <p:sp>
        <p:nvSpPr>
          <p:cNvPr id="4" name="Text 1"/>
          <p:cNvSpPr/>
          <p:nvPr/>
        </p:nvSpPr>
        <p:spPr>
          <a:xfrm>
            <a:off x="640080" y="960120"/>
            <a:ext cx="7772400" cy="594360"/>
          </a:xfrm>
          <a:prstGeom prst="rect">
            <a:avLst/>
          </a:prstGeom>
          <a:noFill/>
          <a:ln/>
        </p:spPr>
        <p:txBody>
          <a:bodyPr wrap="square" lIns="0" tIns="0" rIns="0" bIns="0" rtlCol="0" anchor="ctr"/>
          <a:lstStyle/>
          <a:p>
            <a:pPr indent="0" marL="0">
              <a:buNone/>
            </a:pPr>
            <a:r>
              <a:rPr lang="en-US" sz="3000" b="1" dirty="0">
                <a:solidFill>
                  <a:srgbClr val="1C1C1A"/>
                </a:solidFill>
                <a:latin typeface="Georgia" pitchFamily="34" charset="0"/>
                <a:ea typeface="Georgia" pitchFamily="34" charset="-122"/>
                <a:cs typeface="Georgia" pitchFamily="34" charset="-120"/>
              </a:rPr>
              <a:t>3 · Scope</a:t>
            </a:r>
            <a:endParaRPr lang="en-US" sz="3000" dirty="0"/>
          </a:p>
        </p:txBody>
      </p:sp>
      <p:pic>
        <p:nvPicPr>
          <p:cNvPr id="5" name="Image 1" descr="/home/claude/deckbuild/pngwarm/d-layer3.png">    </p:cNvPr>
          <p:cNvPicPr>
            <a:picLocks noChangeAspect="1"/>
          </p:cNvPicPr>
          <p:nvPr/>
        </p:nvPicPr>
        <p:blipFill>
          <a:blip r:embed="rId3"/>
          <a:stretch>
            <a:fillRect/>
          </a:stretch>
        </p:blipFill>
        <p:spPr>
          <a:xfrm>
            <a:off x="502920" y="1783080"/>
            <a:ext cx="6400800" cy="3200400"/>
          </a:xfrm>
          <a:prstGeom prst="rect">
            <a:avLst/>
          </a:prstGeom>
        </p:spPr>
      </p:pic>
      <p:sp>
        <p:nvSpPr>
          <p:cNvPr id="6" name="Shape 2"/>
          <p:cNvSpPr/>
          <p:nvPr/>
        </p:nvSpPr>
        <p:spPr>
          <a:xfrm>
            <a:off x="7635240" y="2103120"/>
            <a:ext cx="3931920" cy="2606040"/>
          </a:xfrm>
          <a:prstGeom prst="roundRect">
            <a:avLst>
              <a:gd name="adj" fmla="val 2807"/>
            </a:avLst>
          </a:prstGeom>
          <a:solidFill>
            <a:srgbClr val="E7E5DE"/>
          </a:solidFill>
          <a:ln w="11430">
            <a:solidFill>
              <a:srgbClr val="D4D2C8"/>
            </a:solidFill>
            <a:prstDash val="solid"/>
          </a:ln>
        </p:spPr>
      </p:sp>
      <p:sp>
        <p:nvSpPr>
          <p:cNvPr id="7" name="Text 3"/>
          <p:cNvSpPr/>
          <p:nvPr/>
        </p:nvSpPr>
        <p:spPr>
          <a:xfrm>
            <a:off x="7909560" y="2331720"/>
            <a:ext cx="3383280" cy="320040"/>
          </a:xfrm>
          <a:prstGeom prst="rect">
            <a:avLst/>
          </a:prstGeom>
          <a:noFill/>
          <a:ln/>
        </p:spPr>
        <p:txBody>
          <a:bodyPr wrap="square" rtlCol="0" anchor="ctr"/>
          <a:lstStyle/>
          <a:p>
            <a:pPr indent="0" marL="0">
              <a:buNone/>
            </a:pPr>
            <a:r>
              <a:rPr lang="en-US" sz="1250" b="1" spc="100" kern="0" dirty="0">
                <a:solidFill>
                  <a:srgbClr val="1C1C1A"/>
                </a:solidFill>
                <a:latin typeface="Arial" pitchFamily="34" charset="0"/>
                <a:ea typeface="Arial" pitchFamily="34" charset="-122"/>
                <a:cs typeface="Arial" pitchFamily="34" charset="-120"/>
              </a:rPr>
              <a:t>How it breaks</a:t>
            </a:r>
            <a:endParaRPr lang="en-US" sz="1250" dirty="0"/>
          </a:p>
        </p:txBody>
      </p:sp>
      <p:sp>
        <p:nvSpPr>
          <p:cNvPr id="8" name="Text 4"/>
          <p:cNvSpPr/>
          <p:nvPr/>
        </p:nvSpPr>
        <p:spPr>
          <a:xfrm>
            <a:off x="7909560" y="2697480"/>
            <a:ext cx="3383280" cy="411480"/>
          </a:xfrm>
          <a:prstGeom prst="rect">
            <a:avLst/>
          </a:prstGeom>
          <a:noFill/>
          <a:ln/>
        </p:spPr>
        <p:txBody>
          <a:bodyPr wrap="square" rtlCol="0" anchor="ctr"/>
          <a:lstStyle/>
          <a:p>
            <a:pPr indent="0" marL="0">
              <a:buNone/>
            </a:pPr>
            <a:r>
              <a:rPr lang="en-US" sz="1700" b="1" dirty="0">
                <a:solidFill>
                  <a:srgbClr val="1C1C1A"/>
                </a:solidFill>
                <a:latin typeface="Georgia" pitchFamily="34" charset="0"/>
                <a:ea typeface="Georgia" pitchFamily="34" charset="-122"/>
                <a:cs typeface="Georgia" pitchFamily="34" charset="-120"/>
              </a:rPr>
              <a:t>F4 · Non-human blind spot</a:t>
            </a:r>
            <a:endParaRPr lang="en-US" sz="1700" dirty="0"/>
          </a:p>
        </p:txBody>
      </p:sp>
      <p:sp>
        <p:nvSpPr>
          <p:cNvPr id="9" name="Text 5"/>
          <p:cNvSpPr/>
          <p:nvPr/>
        </p:nvSpPr>
        <p:spPr>
          <a:xfrm>
            <a:off x="7909560" y="3200400"/>
            <a:ext cx="3383280" cy="1371600"/>
          </a:xfrm>
          <a:prstGeom prst="rect">
            <a:avLst/>
          </a:prstGeom>
          <a:noFill/>
          <a:ln/>
        </p:spPr>
        <p:txBody>
          <a:bodyPr wrap="square" rtlCol="0" anchor="ctr"/>
          <a:lstStyle/>
          <a:p>
            <a:pPr indent="0" marL="0">
              <a:buNone/>
            </a:pPr>
            <a:r>
              <a:rPr lang="en-US" sz="1250" dirty="0">
                <a:solidFill>
                  <a:srgbClr val="1C1C1A"/>
                </a:solidFill>
                <a:latin typeface="Arial" pitchFamily="34" charset="0"/>
                <a:ea typeface="Arial" pitchFamily="34" charset="-122"/>
                <a:cs typeface="Arial" pitchFamily="34" charset="-120"/>
              </a:rPr>
              <a:t>Observable signal: Nobody can state how many service accounts exist, and the unknown population is not recorded as debt.</a:t>
            </a:r>
            <a:endParaRPr lang="en-US" sz="1250" dirty="0"/>
          </a:p>
        </p:txBody>
      </p:sp>
      <p:sp>
        <p:nvSpPr>
          <p:cNvPr id="10" name="Text 6"/>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66665E"/>
                </a:solidFill>
                <a:latin typeface="Courier New" pitchFamily="34" charset="0"/>
                <a:ea typeface="Courier New" pitchFamily="34" charset="-122"/>
                <a:cs typeface="Courier New" pitchFamily="34" charset="-120"/>
              </a:rPr>
              <a:t>Companion: Scope register template   ·   full chapter: core/03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589520" y="18288"/>
            <a:ext cx="4297680" cy="1143000"/>
          </a:xfrm>
          <a:prstGeom prst="rect">
            <a:avLst/>
          </a:prstGeom>
          <a:noFill/>
          <a:ln/>
        </p:spPr>
        <p:txBody>
          <a:bodyPr wrap="square" lIns="0" tIns="0" rIns="0" bIns="0" rtlCol="0" anchor="ctr"/>
          <a:lstStyle/>
          <a:p>
            <a:pPr algn="r" indent="0" marL="0">
              <a:buNone/>
            </a:pPr>
            <a:r>
              <a:rPr lang="en-US" sz="7600" i="1" dirty="0">
                <a:solidFill>
                  <a:srgbClr val="E0DED4"/>
                </a:solidFill>
                <a:latin typeface="Georgia" pitchFamily="34" charset="0"/>
                <a:ea typeface="Georgia" pitchFamily="34" charset="-122"/>
                <a:cs typeface="Georgia" pitchFamily="34" charset="-120"/>
              </a:rPr>
              <a:t>which</a:t>
            </a:r>
            <a:endParaRPr lang="en-US" sz="7600" dirty="0"/>
          </a:p>
        </p:txBody>
      </p:sp>
      <p:pic>
        <p:nvPicPr>
          <p:cNvPr id="3" name="Image 0" descr="/home/claude/deckbuild/pngwarm/strip-04-prioritization.png">    </p:cNvPr>
          <p:cNvPicPr>
            <a:picLocks noChangeAspect="1"/>
          </p:cNvPicPr>
          <p:nvPr/>
        </p:nvPicPr>
        <p:blipFill>
          <a:blip r:embed="rId2"/>
          <a:stretch>
            <a:fillRect/>
          </a:stretch>
        </p:blipFill>
        <p:spPr>
          <a:xfrm>
            <a:off x="640080" y="411480"/>
            <a:ext cx="5852160" cy="308008"/>
          </a:xfrm>
          <a:prstGeom prst="rect">
            <a:avLst/>
          </a:prstGeom>
        </p:spPr>
      </p:pic>
      <p:sp>
        <p:nvSpPr>
          <p:cNvPr id="4" name="Text 1"/>
          <p:cNvSpPr/>
          <p:nvPr/>
        </p:nvSpPr>
        <p:spPr>
          <a:xfrm>
            <a:off x="640080" y="960120"/>
            <a:ext cx="7772400" cy="594360"/>
          </a:xfrm>
          <a:prstGeom prst="rect">
            <a:avLst/>
          </a:prstGeom>
          <a:noFill/>
          <a:ln/>
        </p:spPr>
        <p:txBody>
          <a:bodyPr wrap="square" lIns="0" tIns="0" rIns="0" bIns="0" rtlCol="0" anchor="ctr"/>
          <a:lstStyle/>
          <a:p>
            <a:pPr indent="0" marL="0">
              <a:buNone/>
            </a:pPr>
            <a:r>
              <a:rPr lang="en-US" sz="3000" b="1" dirty="0">
                <a:solidFill>
                  <a:srgbClr val="1C1C1A"/>
                </a:solidFill>
                <a:latin typeface="Georgia" pitchFamily="34" charset="0"/>
                <a:ea typeface="Georgia" pitchFamily="34" charset="-122"/>
                <a:cs typeface="Georgia" pitchFamily="34" charset="-120"/>
              </a:rPr>
              <a:t>4 · Prioritization</a:t>
            </a:r>
            <a:endParaRPr lang="en-US" sz="3000" dirty="0"/>
          </a:p>
        </p:txBody>
      </p:sp>
      <p:pic>
        <p:nvPicPr>
          <p:cNvPr id="5" name="Image 1" descr="/home/claude/deckbuild/pngwarm/d-layer4.png">    </p:cNvPr>
          <p:cNvPicPr>
            <a:picLocks noChangeAspect="1"/>
          </p:cNvPicPr>
          <p:nvPr/>
        </p:nvPicPr>
        <p:blipFill>
          <a:blip r:embed="rId3"/>
          <a:stretch>
            <a:fillRect/>
          </a:stretch>
        </p:blipFill>
        <p:spPr>
          <a:xfrm>
            <a:off x="502920" y="1783080"/>
            <a:ext cx="6492240" cy="3210052"/>
          </a:xfrm>
          <a:prstGeom prst="rect">
            <a:avLst/>
          </a:prstGeom>
        </p:spPr>
      </p:pic>
      <p:sp>
        <p:nvSpPr>
          <p:cNvPr id="6" name="Shape 2"/>
          <p:cNvSpPr/>
          <p:nvPr/>
        </p:nvSpPr>
        <p:spPr>
          <a:xfrm>
            <a:off x="7635240" y="2103120"/>
            <a:ext cx="3931920" cy="2606040"/>
          </a:xfrm>
          <a:prstGeom prst="roundRect">
            <a:avLst>
              <a:gd name="adj" fmla="val 2807"/>
            </a:avLst>
          </a:prstGeom>
          <a:solidFill>
            <a:srgbClr val="E7E5DE"/>
          </a:solidFill>
          <a:ln w="11430">
            <a:solidFill>
              <a:srgbClr val="D4D2C8"/>
            </a:solidFill>
            <a:prstDash val="solid"/>
          </a:ln>
        </p:spPr>
      </p:sp>
      <p:sp>
        <p:nvSpPr>
          <p:cNvPr id="7" name="Text 3"/>
          <p:cNvSpPr/>
          <p:nvPr/>
        </p:nvSpPr>
        <p:spPr>
          <a:xfrm>
            <a:off x="7909560" y="2331720"/>
            <a:ext cx="3383280" cy="320040"/>
          </a:xfrm>
          <a:prstGeom prst="rect">
            <a:avLst/>
          </a:prstGeom>
          <a:noFill/>
          <a:ln/>
        </p:spPr>
        <p:txBody>
          <a:bodyPr wrap="square" rtlCol="0" anchor="ctr"/>
          <a:lstStyle/>
          <a:p>
            <a:pPr indent="0" marL="0">
              <a:buNone/>
            </a:pPr>
            <a:r>
              <a:rPr lang="en-US" sz="1250" b="1" spc="100" kern="0" dirty="0">
                <a:solidFill>
                  <a:srgbClr val="1C1C1A"/>
                </a:solidFill>
                <a:latin typeface="Arial" pitchFamily="34" charset="0"/>
                <a:ea typeface="Arial" pitchFamily="34" charset="-122"/>
                <a:cs typeface="Arial" pitchFamily="34" charset="-120"/>
              </a:rPr>
              <a:t>How it breaks</a:t>
            </a:r>
            <a:endParaRPr lang="en-US" sz="1250" dirty="0"/>
          </a:p>
        </p:txBody>
      </p:sp>
      <p:sp>
        <p:nvSpPr>
          <p:cNvPr id="8" name="Text 4"/>
          <p:cNvSpPr/>
          <p:nvPr/>
        </p:nvSpPr>
        <p:spPr>
          <a:xfrm>
            <a:off x="7909560" y="2697480"/>
            <a:ext cx="3383280" cy="411480"/>
          </a:xfrm>
          <a:prstGeom prst="rect">
            <a:avLst/>
          </a:prstGeom>
          <a:noFill/>
          <a:ln/>
        </p:spPr>
        <p:txBody>
          <a:bodyPr wrap="square" rtlCol="0" anchor="ctr"/>
          <a:lstStyle/>
          <a:p>
            <a:pPr indent="0" marL="0">
              <a:buNone/>
            </a:pPr>
            <a:r>
              <a:rPr lang="en-US" sz="1700" b="1" dirty="0">
                <a:solidFill>
                  <a:srgbClr val="1C1C1A"/>
                </a:solidFill>
                <a:latin typeface="Georgia" pitchFamily="34" charset="0"/>
                <a:ea typeface="Georgia" pitchFamily="34" charset="-122"/>
                <a:cs typeface="Georgia" pitchFamily="34" charset="-120"/>
              </a:rPr>
              <a:t>F1 · Uniform governance</a:t>
            </a:r>
            <a:endParaRPr lang="en-US" sz="1700" dirty="0"/>
          </a:p>
        </p:txBody>
      </p:sp>
      <p:sp>
        <p:nvSpPr>
          <p:cNvPr id="9" name="Text 5"/>
          <p:cNvSpPr/>
          <p:nvPr/>
        </p:nvSpPr>
        <p:spPr>
          <a:xfrm>
            <a:off x="7909560" y="3200400"/>
            <a:ext cx="3383280" cy="1371600"/>
          </a:xfrm>
          <a:prstGeom prst="rect">
            <a:avLst/>
          </a:prstGeom>
          <a:noFill/>
          <a:ln/>
        </p:spPr>
        <p:txBody>
          <a:bodyPr wrap="square" rtlCol="0" anchor="ctr"/>
          <a:lstStyle/>
          <a:p>
            <a:pPr indent="0" marL="0">
              <a:buNone/>
            </a:pPr>
            <a:r>
              <a:rPr lang="en-US" sz="1250" dirty="0">
                <a:solidFill>
                  <a:srgbClr val="1C1C1A"/>
                </a:solidFill>
                <a:latin typeface="Arial" pitchFamily="34" charset="0"/>
                <a:ea typeface="Arial" pitchFamily="34" charset="-122"/>
                <a:cs typeface="Arial" pitchFamily="34" charset="-120"/>
              </a:rPr>
              <a:t>Observable signal: The wiki is certified as often as payroll, and reviewer attention is spent where risk is not.</a:t>
            </a:r>
            <a:endParaRPr lang="en-US" sz="1250" dirty="0"/>
          </a:p>
        </p:txBody>
      </p:sp>
      <p:sp>
        <p:nvSpPr>
          <p:cNvPr id="10" name="Text 6"/>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66665E"/>
                </a:solidFill>
                <a:latin typeface="Courier New" pitchFamily="34" charset="0"/>
                <a:ea typeface="Courier New" pitchFamily="34" charset="-122"/>
                <a:cs typeface="Courier New" pitchFamily="34" charset="-120"/>
              </a:rPr>
              <a:t>Companion: Tier criteria and on-ramp worksheet   ·   full chapter: core/04</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589520" y="18288"/>
            <a:ext cx="4297680" cy="1143000"/>
          </a:xfrm>
          <a:prstGeom prst="rect">
            <a:avLst/>
          </a:prstGeom>
          <a:noFill/>
          <a:ln/>
        </p:spPr>
        <p:txBody>
          <a:bodyPr wrap="square" lIns="0" tIns="0" rIns="0" bIns="0" rtlCol="0" anchor="ctr"/>
          <a:lstStyle/>
          <a:p>
            <a:pPr algn="r" indent="0" marL="0">
              <a:buNone/>
            </a:pPr>
            <a:r>
              <a:rPr lang="en-US" sz="7600" i="1" dirty="0">
                <a:solidFill>
                  <a:srgbClr val="E0DED4"/>
                </a:solidFill>
                <a:latin typeface="Georgia" pitchFamily="34" charset="0"/>
                <a:ea typeface="Georgia" pitchFamily="34" charset="-122"/>
                <a:cs typeface="Georgia" pitchFamily="34" charset="-120"/>
              </a:rPr>
              <a:t>how</a:t>
            </a:r>
            <a:endParaRPr lang="en-US" sz="7600" dirty="0"/>
          </a:p>
        </p:txBody>
      </p:sp>
      <p:pic>
        <p:nvPicPr>
          <p:cNvPr id="3" name="Image 0" descr="/home/claude/deckbuild/pngwarm/strip-05-process.png">    </p:cNvPr>
          <p:cNvPicPr>
            <a:picLocks noChangeAspect="1"/>
          </p:cNvPicPr>
          <p:nvPr/>
        </p:nvPicPr>
        <p:blipFill>
          <a:blip r:embed="rId2"/>
          <a:stretch>
            <a:fillRect/>
          </a:stretch>
        </p:blipFill>
        <p:spPr>
          <a:xfrm>
            <a:off x="640080" y="411480"/>
            <a:ext cx="5852160" cy="308008"/>
          </a:xfrm>
          <a:prstGeom prst="rect">
            <a:avLst/>
          </a:prstGeom>
        </p:spPr>
      </p:pic>
      <p:sp>
        <p:nvSpPr>
          <p:cNvPr id="4" name="Text 1"/>
          <p:cNvSpPr/>
          <p:nvPr/>
        </p:nvSpPr>
        <p:spPr>
          <a:xfrm>
            <a:off x="640080" y="960120"/>
            <a:ext cx="7772400" cy="594360"/>
          </a:xfrm>
          <a:prstGeom prst="rect">
            <a:avLst/>
          </a:prstGeom>
          <a:noFill/>
          <a:ln/>
        </p:spPr>
        <p:txBody>
          <a:bodyPr wrap="square" lIns="0" tIns="0" rIns="0" bIns="0" rtlCol="0" anchor="ctr"/>
          <a:lstStyle/>
          <a:p>
            <a:pPr indent="0" marL="0">
              <a:buNone/>
            </a:pPr>
            <a:r>
              <a:rPr lang="en-US" sz="3000" b="1" dirty="0">
                <a:solidFill>
                  <a:srgbClr val="1C1C1A"/>
                </a:solidFill>
                <a:latin typeface="Georgia" pitchFamily="34" charset="0"/>
                <a:ea typeface="Georgia" pitchFamily="34" charset="-122"/>
                <a:cs typeface="Georgia" pitchFamily="34" charset="-120"/>
              </a:rPr>
              <a:t>5 · Process</a:t>
            </a:r>
            <a:endParaRPr lang="en-US" sz="3000" dirty="0"/>
          </a:p>
        </p:txBody>
      </p:sp>
      <p:pic>
        <p:nvPicPr>
          <p:cNvPr id="5" name="Image 1" descr="/home/claude/deckbuild/pngwarm/d-layer5.png">    </p:cNvPr>
          <p:cNvPicPr>
            <a:picLocks noChangeAspect="1"/>
          </p:cNvPicPr>
          <p:nvPr/>
        </p:nvPicPr>
        <p:blipFill>
          <a:blip r:embed="rId3"/>
          <a:stretch>
            <a:fillRect/>
          </a:stretch>
        </p:blipFill>
        <p:spPr>
          <a:xfrm>
            <a:off x="502920" y="1783080"/>
            <a:ext cx="6858000" cy="2590800"/>
          </a:xfrm>
          <a:prstGeom prst="rect">
            <a:avLst/>
          </a:prstGeom>
        </p:spPr>
      </p:pic>
      <p:sp>
        <p:nvSpPr>
          <p:cNvPr id="6" name="Shape 2"/>
          <p:cNvSpPr/>
          <p:nvPr/>
        </p:nvSpPr>
        <p:spPr>
          <a:xfrm>
            <a:off x="7635240" y="2103120"/>
            <a:ext cx="3931920" cy="2606040"/>
          </a:xfrm>
          <a:prstGeom prst="roundRect">
            <a:avLst>
              <a:gd name="adj" fmla="val 2807"/>
            </a:avLst>
          </a:prstGeom>
          <a:solidFill>
            <a:srgbClr val="E7E5DE"/>
          </a:solidFill>
          <a:ln w="11430">
            <a:solidFill>
              <a:srgbClr val="D4D2C8"/>
            </a:solidFill>
            <a:prstDash val="solid"/>
          </a:ln>
        </p:spPr>
      </p:sp>
      <p:sp>
        <p:nvSpPr>
          <p:cNvPr id="7" name="Text 3"/>
          <p:cNvSpPr/>
          <p:nvPr/>
        </p:nvSpPr>
        <p:spPr>
          <a:xfrm>
            <a:off x="7909560" y="2331720"/>
            <a:ext cx="3383280" cy="320040"/>
          </a:xfrm>
          <a:prstGeom prst="rect">
            <a:avLst/>
          </a:prstGeom>
          <a:noFill/>
          <a:ln/>
        </p:spPr>
        <p:txBody>
          <a:bodyPr wrap="square" rtlCol="0" anchor="ctr"/>
          <a:lstStyle/>
          <a:p>
            <a:pPr indent="0" marL="0">
              <a:buNone/>
            </a:pPr>
            <a:r>
              <a:rPr lang="en-US" sz="1250" b="1" spc="100" kern="0" dirty="0">
                <a:solidFill>
                  <a:srgbClr val="1C1C1A"/>
                </a:solidFill>
                <a:latin typeface="Arial" pitchFamily="34" charset="0"/>
                <a:ea typeface="Arial" pitchFamily="34" charset="-122"/>
                <a:cs typeface="Arial" pitchFamily="34" charset="-120"/>
              </a:rPr>
              <a:t>How it breaks</a:t>
            </a:r>
            <a:endParaRPr lang="en-US" sz="1250" dirty="0"/>
          </a:p>
        </p:txBody>
      </p:sp>
      <p:sp>
        <p:nvSpPr>
          <p:cNvPr id="8" name="Text 4"/>
          <p:cNvSpPr/>
          <p:nvPr/>
        </p:nvSpPr>
        <p:spPr>
          <a:xfrm>
            <a:off x="7909560" y="2697480"/>
            <a:ext cx="3383280" cy="411480"/>
          </a:xfrm>
          <a:prstGeom prst="rect">
            <a:avLst/>
          </a:prstGeom>
          <a:noFill/>
          <a:ln/>
        </p:spPr>
        <p:txBody>
          <a:bodyPr wrap="square" rtlCol="0" anchor="ctr"/>
          <a:lstStyle/>
          <a:p>
            <a:pPr indent="0" marL="0">
              <a:buNone/>
            </a:pPr>
            <a:r>
              <a:rPr lang="en-US" sz="1700" b="1" dirty="0">
                <a:solidFill>
                  <a:srgbClr val="1C1C1A"/>
                </a:solidFill>
                <a:latin typeface="Georgia" pitchFamily="34" charset="0"/>
                <a:ea typeface="Georgia" pitchFamily="34" charset="-122"/>
                <a:cs typeface="Georgia" pitchFamily="34" charset="-120"/>
              </a:rPr>
              <a:t>F7 · Rehire trap</a:t>
            </a:r>
            <a:endParaRPr lang="en-US" sz="1700" dirty="0"/>
          </a:p>
        </p:txBody>
      </p:sp>
      <p:sp>
        <p:nvSpPr>
          <p:cNvPr id="9" name="Text 5"/>
          <p:cNvSpPr/>
          <p:nvPr/>
        </p:nvSpPr>
        <p:spPr>
          <a:xfrm>
            <a:off x="7909560" y="3200400"/>
            <a:ext cx="3383280" cy="1371600"/>
          </a:xfrm>
          <a:prstGeom prst="rect">
            <a:avLst/>
          </a:prstGeom>
          <a:noFill/>
          <a:ln/>
        </p:spPr>
        <p:txBody>
          <a:bodyPr wrap="square" rtlCol="0" anchor="ctr"/>
          <a:lstStyle/>
          <a:p>
            <a:pPr indent="0" marL="0">
              <a:buNone/>
            </a:pPr>
            <a:r>
              <a:rPr lang="en-US" sz="1250" dirty="0">
                <a:solidFill>
                  <a:srgbClr val="1C1C1A"/>
                </a:solidFill>
                <a:latin typeface="Arial" pitchFamily="34" charset="0"/>
                <a:ea typeface="Arial" pitchFamily="34" charset="-122"/>
                <a:cs typeface="Arial" pitchFamily="34" charset="-120"/>
              </a:rPr>
              <a:t>Observable signal: A returning identity is reactivated with prior-tenure entitlements and no new justification on record.</a:t>
            </a:r>
            <a:endParaRPr lang="en-US" sz="1250" dirty="0"/>
          </a:p>
        </p:txBody>
      </p:sp>
      <p:sp>
        <p:nvSpPr>
          <p:cNvPr id="10" name="Text 6"/>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66665E"/>
                </a:solidFill>
                <a:latin typeface="Courier New" pitchFamily="34" charset="0"/>
                <a:ea typeface="Courier New" pitchFamily="34" charset="-122"/>
                <a:cs typeface="Courier New" pitchFamily="34" charset="-120"/>
              </a:rPr>
              <a:t>Companion: Lifecycle and certification checklists   ·   full chapter: core/05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589520" y="18288"/>
            <a:ext cx="4297680" cy="1143000"/>
          </a:xfrm>
          <a:prstGeom prst="rect">
            <a:avLst/>
          </a:prstGeom>
          <a:noFill/>
          <a:ln/>
        </p:spPr>
        <p:txBody>
          <a:bodyPr wrap="square" lIns="0" tIns="0" rIns="0" bIns="0" rtlCol="0" anchor="ctr"/>
          <a:lstStyle/>
          <a:p>
            <a:pPr algn="r" indent="0" marL="0">
              <a:buNone/>
            </a:pPr>
            <a:r>
              <a:rPr lang="en-US" sz="7600" i="1" dirty="0">
                <a:solidFill>
                  <a:srgbClr val="E0DED4"/>
                </a:solidFill>
                <a:latin typeface="Georgia" pitchFamily="34" charset="0"/>
                <a:ea typeface="Georgia" pitchFamily="34" charset="-122"/>
                <a:cs typeface="Georgia" pitchFamily="34" charset="-120"/>
              </a:rPr>
              <a:t>when</a:t>
            </a:r>
            <a:endParaRPr lang="en-US" sz="7600" dirty="0"/>
          </a:p>
        </p:txBody>
      </p:sp>
      <p:pic>
        <p:nvPicPr>
          <p:cNvPr id="3" name="Image 0" descr="/home/claude/deckbuild/pngwarm/strip-06-cadence.png">    </p:cNvPr>
          <p:cNvPicPr>
            <a:picLocks noChangeAspect="1"/>
          </p:cNvPicPr>
          <p:nvPr/>
        </p:nvPicPr>
        <p:blipFill>
          <a:blip r:embed="rId2"/>
          <a:stretch>
            <a:fillRect/>
          </a:stretch>
        </p:blipFill>
        <p:spPr>
          <a:xfrm>
            <a:off x="640080" y="411480"/>
            <a:ext cx="5852160" cy="308008"/>
          </a:xfrm>
          <a:prstGeom prst="rect">
            <a:avLst/>
          </a:prstGeom>
        </p:spPr>
      </p:pic>
      <p:sp>
        <p:nvSpPr>
          <p:cNvPr id="4" name="Text 1"/>
          <p:cNvSpPr/>
          <p:nvPr/>
        </p:nvSpPr>
        <p:spPr>
          <a:xfrm>
            <a:off x="640080" y="960120"/>
            <a:ext cx="7772400" cy="594360"/>
          </a:xfrm>
          <a:prstGeom prst="rect">
            <a:avLst/>
          </a:prstGeom>
          <a:noFill/>
          <a:ln/>
        </p:spPr>
        <p:txBody>
          <a:bodyPr wrap="square" lIns="0" tIns="0" rIns="0" bIns="0" rtlCol="0" anchor="ctr"/>
          <a:lstStyle/>
          <a:p>
            <a:pPr indent="0" marL="0">
              <a:buNone/>
            </a:pPr>
            <a:r>
              <a:rPr lang="en-US" sz="3000" b="1" dirty="0">
                <a:solidFill>
                  <a:srgbClr val="1C1C1A"/>
                </a:solidFill>
                <a:latin typeface="Georgia" pitchFamily="34" charset="0"/>
                <a:ea typeface="Georgia" pitchFamily="34" charset="-122"/>
                <a:cs typeface="Georgia" pitchFamily="34" charset="-120"/>
              </a:rPr>
              <a:t>6 · Cadence</a:t>
            </a:r>
            <a:endParaRPr lang="en-US" sz="3000" dirty="0"/>
          </a:p>
        </p:txBody>
      </p:sp>
      <p:pic>
        <p:nvPicPr>
          <p:cNvPr id="5" name="Image 1" descr="/home/claude/deckbuild/pngwarm/d-layer6.png">    </p:cNvPr>
          <p:cNvPicPr>
            <a:picLocks noChangeAspect="1"/>
          </p:cNvPicPr>
          <p:nvPr/>
        </p:nvPicPr>
        <p:blipFill>
          <a:blip r:embed="rId3"/>
          <a:stretch>
            <a:fillRect/>
          </a:stretch>
        </p:blipFill>
        <p:spPr>
          <a:xfrm>
            <a:off x="502920" y="1783080"/>
            <a:ext cx="6492240" cy="2849372"/>
          </a:xfrm>
          <a:prstGeom prst="rect">
            <a:avLst/>
          </a:prstGeom>
        </p:spPr>
      </p:pic>
      <p:sp>
        <p:nvSpPr>
          <p:cNvPr id="6" name="Shape 2"/>
          <p:cNvSpPr/>
          <p:nvPr/>
        </p:nvSpPr>
        <p:spPr>
          <a:xfrm>
            <a:off x="7635240" y="2103120"/>
            <a:ext cx="3931920" cy="2606040"/>
          </a:xfrm>
          <a:prstGeom prst="roundRect">
            <a:avLst>
              <a:gd name="adj" fmla="val 2807"/>
            </a:avLst>
          </a:prstGeom>
          <a:solidFill>
            <a:srgbClr val="E7E5DE"/>
          </a:solidFill>
          <a:ln w="11430">
            <a:solidFill>
              <a:srgbClr val="D4D2C8"/>
            </a:solidFill>
            <a:prstDash val="solid"/>
          </a:ln>
        </p:spPr>
      </p:sp>
      <p:sp>
        <p:nvSpPr>
          <p:cNvPr id="7" name="Text 3"/>
          <p:cNvSpPr/>
          <p:nvPr/>
        </p:nvSpPr>
        <p:spPr>
          <a:xfrm>
            <a:off x="7909560" y="2331720"/>
            <a:ext cx="3383280" cy="320040"/>
          </a:xfrm>
          <a:prstGeom prst="rect">
            <a:avLst/>
          </a:prstGeom>
          <a:noFill/>
          <a:ln/>
        </p:spPr>
        <p:txBody>
          <a:bodyPr wrap="square" rtlCol="0" anchor="ctr"/>
          <a:lstStyle/>
          <a:p>
            <a:pPr indent="0" marL="0">
              <a:buNone/>
            </a:pPr>
            <a:r>
              <a:rPr lang="en-US" sz="1250" b="1" spc="100" kern="0" dirty="0">
                <a:solidFill>
                  <a:srgbClr val="1C1C1A"/>
                </a:solidFill>
                <a:latin typeface="Arial" pitchFamily="34" charset="0"/>
                <a:ea typeface="Arial" pitchFamily="34" charset="-122"/>
                <a:cs typeface="Arial" pitchFamily="34" charset="-120"/>
              </a:rPr>
              <a:t>How it breaks</a:t>
            </a:r>
            <a:endParaRPr lang="en-US" sz="1250" dirty="0"/>
          </a:p>
        </p:txBody>
      </p:sp>
      <p:sp>
        <p:nvSpPr>
          <p:cNvPr id="8" name="Text 4"/>
          <p:cNvSpPr/>
          <p:nvPr/>
        </p:nvSpPr>
        <p:spPr>
          <a:xfrm>
            <a:off x="7909560" y="2697480"/>
            <a:ext cx="3383280" cy="411480"/>
          </a:xfrm>
          <a:prstGeom prst="rect">
            <a:avLst/>
          </a:prstGeom>
          <a:noFill/>
          <a:ln/>
        </p:spPr>
        <p:txBody>
          <a:bodyPr wrap="square" rtlCol="0" anchor="ctr"/>
          <a:lstStyle/>
          <a:p>
            <a:pPr indent="0" marL="0">
              <a:buNone/>
            </a:pPr>
            <a:r>
              <a:rPr lang="en-US" sz="1700" b="1" dirty="0">
                <a:solidFill>
                  <a:srgbClr val="1C1C1A"/>
                </a:solidFill>
                <a:latin typeface="Georgia" pitchFamily="34" charset="0"/>
                <a:ea typeface="Georgia" pitchFamily="34" charset="-122"/>
                <a:cs typeface="Georgia" pitchFamily="34" charset="-120"/>
              </a:rPr>
              <a:t>F1 · Calendar theatre</a:t>
            </a:r>
            <a:endParaRPr lang="en-US" sz="1700" dirty="0"/>
          </a:p>
        </p:txBody>
      </p:sp>
      <p:sp>
        <p:nvSpPr>
          <p:cNvPr id="9" name="Text 5"/>
          <p:cNvSpPr/>
          <p:nvPr/>
        </p:nvSpPr>
        <p:spPr>
          <a:xfrm>
            <a:off x="7909560" y="3200400"/>
            <a:ext cx="3383280" cy="1371600"/>
          </a:xfrm>
          <a:prstGeom prst="rect">
            <a:avLst/>
          </a:prstGeom>
          <a:noFill/>
          <a:ln/>
        </p:spPr>
        <p:txBody>
          <a:bodyPr wrap="square" rtlCol="0" anchor="ctr"/>
          <a:lstStyle/>
          <a:p>
            <a:pPr indent="0" marL="0">
              <a:buNone/>
            </a:pPr>
            <a:r>
              <a:rPr lang="en-US" sz="1250" dirty="0">
                <a:solidFill>
                  <a:srgbClr val="1C1C1A"/>
                </a:solidFill>
                <a:latin typeface="Arial" pitchFamily="34" charset="0"/>
                <a:ea typeface="Arial" pitchFamily="34" charset="-122"/>
                <a:cs typeface="Arial" pitchFamily="34" charset="-120"/>
              </a:rPr>
              <a:t>Observable signal: Access changes cluster at campaign dates rather than at the events that should have triggered them.</a:t>
            </a:r>
            <a:endParaRPr lang="en-US" sz="1250" dirty="0"/>
          </a:p>
        </p:txBody>
      </p:sp>
      <p:sp>
        <p:nvSpPr>
          <p:cNvPr id="10" name="Text 6"/>
          <p:cNvSpPr/>
          <p:nvPr/>
        </p:nvSpPr>
        <p:spPr>
          <a:xfrm>
            <a:off x="640080" y="6263640"/>
            <a:ext cx="10881360" cy="320040"/>
          </a:xfrm>
          <a:prstGeom prst="rect">
            <a:avLst/>
          </a:prstGeom>
          <a:noFill/>
          <a:ln/>
        </p:spPr>
        <p:txBody>
          <a:bodyPr wrap="square" rtlCol="0" anchor="ctr"/>
          <a:lstStyle/>
          <a:p>
            <a:pPr indent="0" marL="0">
              <a:buNone/>
            </a:pPr>
            <a:r>
              <a:rPr lang="en-US" sz="1100" dirty="0">
                <a:solidFill>
                  <a:srgbClr val="66665E"/>
                </a:solidFill>
                <a:latin typeface="Courier New" pitchFamily="34" charset="0"/>
                <a:ea typeface="Courier New" pitchFamily="34" charset="-122"/>
                <a:cs typeface="Courier New" pitchFamily="34" charset="-120"/>
              </a:rPr>
              <a:t>Companion: Cadence table template   ·   full chapter: core/06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32 ways programs break, each with a checkable signal</a:t>
            </a:r>
            <a:endParaRPr lang="en-US" sz="3300" dirty="0"/>
          </a:p>
        </p:txBody>
      </p:sp>
      <p:pic>
        <p:nvPicPr>
          <p:cNvPr id="3" name="Image 0" descr="/home/claude/deckbuild/pngwarm/d-signals.png">    </p:cNvPr>
          <p:cNvPicPr>
            <a:picLocks noChangeAspect="1"/>
          </p:cNvPicPr>
          <p:nvPr/>
        </p:nvPicPr>
        <p:blipFill>
          <a:blip r:embed="rId2"/>
          <a:stretch>
            <a:fillRect/>
          </a:stretch>
        </p:blipFill>
        <p:spPr>
          <a:xfrm>
            <a:off x="868680" y="1280160"/>
            <a:ext cx="10424160" cy="4240336"/>
          </a:xfrm>
          <a:prstGeom prst="rect">
            <a:avLst/>
          </a:prstGeom>
        </p:spPr>
      </p:pic>
      <p:sp>
        <p:nvSpPr>
          <p:cNvPr id="4" name="Text 1"/>
          <p:cNvSpPr/>
          <p:nvPr/>
        </p:nvSpPr>
        <p:spPr>
          <a:xfrm>
            <a:off x="640080" y="5989320"/>
            <a:ext cx="10881360" cy="457200"/>
          </a:xfrm>
          <a:prstGeom prst="rect">
            <a:avLst/>
          </a:prstGeom>
          <a:noFill/>
          <a:ln/>
        </p:spPr>
        <p:txBody>
          <a:bodyPr wrap="square" rtlCol="0" anchor="ctr"/>
          <a:lstStyle/>
          <a:p>
            <a:pPr algn="ctr" indent="0" marL="0">
              <a:buNone/>
            </a:pPr>
            <a:r>
              <a:rPr lang="en-US" sz="1350" i="1" dirty="0">
                <a:solidFill>
                  <a:srgbClr val="66665E"/>
                </a:solidFill>
                <a:latin typeface="Arial" pitchFamily="34" charset="0"/>
                <a:ea typeface="Arial" pitchFamily="34" charset="-122"/>
                <a:cs typeface="Arial" pitchFamily="34" charset="-120"/>
              </a:rPr>
              <a:t>The framework carries the full catalogue; C8 makes checking it an annual obligation, and the signals double as an audit-readiness sweep.</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Four moments in a program's life</a:t>
            </a:r>
            <a:endParaRPr lang="en-US" sz="3300" dirty="0"/>
          </a:p>
        </p:txBody>
      </p:sp>
      <p:pic>
        <p:nvPicPr>
          <p:cNvPr id="3" name="Image 0" descr="/home/claude/deckbuild/pngwarm/fig-02-lifecycle.png">    </p:cNvPr>
          <p:cNvPicPr>
            <a:picLocks noChangeAspect="1"/>
          </p:cNvPicPr>
          <p:nvPr/>
        </p:nvPicPr>
        <p:blipFill>
          <a:blip r:embed="rId2"/>
          <a:stretch>
            <a:fillRect/>
          </a:stretch>
        </p:blipFill>
        <p:spPr>
          <a:xfrm>
            <a:off x="640080" y="1463040"/>
            <a:ext cx="6675120" cy="2353858"/>
          </a:xfrm>
          <a:prstGeom prst="rect">
            <a:avLst/>
          </a:prstGeom>
        </p:spPr>
      </p:pic>
      <p:sp>
        <p:nvSpPr>
          <p:cNvPr id="4" name="Text 1"/>
          <p:cNvSpPr/>
          <p:nvPr/>
        </p:nvSpPr>
        <p:spPr>
          <a:xfrm>
            <a:off x="7635240" y="1783080"/>
            <a:ext cx="3931920" cy="3840480"/>
          </a:xfrm>
          <a:prstGeom prst="rect">
            <a:avLst/>
          </a:prstGeom>
          <a:noFill/>
          <a:ln/>
        </p:spPr>
        <p:txBody>
          <a:bodyPr wrap="square" rtlCol="0" anchor="ctr"/>
          <a:lstStyle/>
          <a:p>
            <a:pPr marL="177800" indent="-177800">
              <a:spcAft>
                <a:spcPts val="800"/>
              </a:spcAft>
              <a:buSzPct val="100000"/>
              <a:buChar char="•"/>
            </a:pPr>
            <a:r>
              <a:rPr lang="en-US" sz="1400" dirty="0">
                <a:solidFill>
                  <a:srgbClr val="1C1C1A"/>
                </a:solidFill>
                <a:latin typeface="Arial" pitchFamily="34" charset="0"/>
                <a:ea typeface="Arial" pitchFamily="34" charset="-122"/>
                <a:cs typeface="Arial" pitchFamily="34" charset="-120"/>
              </a:rPr>
              <a:t>Kick start once, in chapter order: each layer's worksheet builds on the previous.</a:t>
            </a:r>
            <a:endParaRPr lang="en-US" sz="1400" dirty="0"/>
          </a:p>
          <a:p>
            <a:pPr marL="177800" indent="-177800">
              <a:spcAft>
                <a:spcPts val="800"/>
              </a:spcAft>
              <a:buSzPct val="100000"/>
              <a:buChar char="•"/>
            </a:pPr>
            <a:r>
              <a:rPr lang="en-US" sz="1400" dirty="0">
                <a:solidFill>
                  <a:srgbClr val="1C1C1A"/>
                </a:solidFill>
                <a:latin typeface="Arial" pitchFamily="34" charset="0"/>
                <a:ea typeface="Arial" pitchFamily="34" charset="-122"/>
                <a:cs typeface="Arial" pitchFamily="34" charset="-120"/>
              </a:rPr>
              <a:t>Run: the worksheets become operating documents rather than project artifacts.</a:t>
            </a:r>
            <a:endParaRPr lang="en-US" sz="1400" dirty="0"/>
          </a:p>
          <a:p>
            <a:pPr marL="177800" indent="-177800">
              <a:spcAft>
                <a:spcPts val="800"/>
              </a:spcAft>
              <a:buSzPct val="100000"/>
              <a:buChar char="•"/>
            </a:pPr>
            <a:r>
              <a:rPr lang="en-US" sz="1400" dirty="0">
                <a:solidFill>
                  <a:srgbClr val="1C1C1A"/>
                </a:solidFill>
                <a:latin typeface="Arial" pitchFamily="34" charset="0"/>
                <a:ea typeface="Arial" pitchFamily="34" charset="-122"/>
                <a:cs typeface="Arial" pitchFamily="34" charset="-120"/>
              </a:rPr>
              <a:t>Maintain: review cycles plus the C8 failure-mode self-check.</a:t>
            </a:r>
            <a:endParaRPr lang="en-US" sz="1400" dirty="0"/>
          </a:p>
          <a:p>
            <a:pPr marL="177800" indent="-177800">
              <a:spcAft>
                <a:spcPts val="800"/>
              </a:spcAft>
              <a:buSzPct val="100000"/>
              <a:buChar char="•"/>
            </a:pPr>
            <a:r>
              <a:rPr lang="en-US" sz="1400" dirty="0">
                <a:solidFill>
                  <a:srgbClr val="1C1C1A"/>
                </a:solidFill>
                <a:latin typeface="Arial" pitchFamily="34" charset="0"/>
                <a:ea typeface="Arial" pitchFamily="34" charset="-122"/>
                <a:cs typeface="Arial" pitchFamily="34" charset="-120"/>
              </a:rPr>
              <a:t>Upgrade: gap-assess against the numbered decisions; every unmet statement is a backlog item.</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4297680"/>
            <a:ext cx="11430000" cy="2103120"/>
          </a:xfrm>
          <a:prstGeom prst="rect">
            <a:avLst/>
          </a:prstGeom>
          <a:noFill/>
          <a:ln/>
        </p:spPr>
        <p:txBody>
          <a:bodyPr wrap="square" lIns="0" tIns="0" rIns="0" bIns="0" rtlCol="0" anchor="ctr"/>
          <a:lstStyle/>
          <a:p>
            <a:pPr algn="l" indent="0" marL="0">
              <a:buNone/>
            </a:pPr>
            <a:r>
              <a:rPr lang="en-US" sz="11000" i="1" dirty="0">
                <a:solidFill>
                  <a:srgbClr val="2A2A27"/>
                </a:solidFill>
                <a:latin typeface="Georgia" pitchFamily="34" charset="0"/>
                <a:ea typeface="Georgia" pitchFamily="34" charset="-122"/>
                <a:cs typeface="Georgia" pitchFamily="34" charset="-120"/>
              </a:rPr>
              <a:t>how fast</a:t>
            </a:r>
            <a:endParaRPr lang="en-US" sz="11000" dirty="0"/>
          </a:p>
        </p:txBody>
      </p:sp>
      <p:sp>
        <p:nvSpPr>
          <p:cNvPr id="3" name="Text 1"/>
          <p:cNvSpPr/>
          <p:nvPr/>
        </p:nvSpPr>
        <p:spPr>
          <a:xfrm>
            <a:off x="822960" y="2148840"/>
            <a:ext cx="10058400" cy="365760"/>
          </a:xfrm>
          <a:prstGeom prst="rect">
            <a:avLst/>
          </a:prstGeom>
          <a:noFill/>
          <a:ln/>
        </p:spPr>
        <p:txBody>
          <a:bodyPr wrap="square" rtlCol="0" anchor="ctr"/>
          <a:lstStyle/>
          <a:p>
            <a:pPr indent="0" marL="0">
              <a:buNone/>
            </a:pPr>
            <a:r>
              <a:rPr lang="en-US" sz="1300" b="1" spc="350" kern="0" dirty="0">
                <a:solidFill>
                  <a:srgbClr val="A2A299"/>
                </a:solidFill>
                <a:latin typeface="Courier New" pitchFamily="34" charset="0"/>
                <a:ea typeface="Courier New" pitchFamily="34" charset="-122"/>
                <a:cs typeface="Courier New" pitchFamily="34" charset="-120"/>
              </a:rPr>
              <a:t>PART TWO</a:t>
            </a:r>
            <a:endParaRPr lang="en-US" sz="1300" dirty="0"/>
          </a:p>
        </p:txBody>
      </p:sp>
      <p:sp>
        <p:nvSpPr>
          <p:cNvPr id="4" name="Text 2"/>
          <p:cNvSpPr/>
          <p:nvPr/>
        </p:nvSpPr>
        <p:spPr>
          <a:xfrm>
            <a:off x="822960" y="2560320"/>
            <a:ext cx="10515600" cy="1005840"/>
          </a:xfrm>
          <a:prstGeom prst="rect">
            <a:avLst/>
          </a:prstGeom>
          <a:noFill/>
          <a:ln/>
        </p:spPr>
        <p:txBody>
          <a:bodyPr wrap="square" rtlCol="0" anchor="ctr"/>
          <a:lstStyle/>
          <a:p>
            <a:pPr indent="0" marL="0">
              <a:buNone/>
            </a:pPr>
            <a:r>
              <a:rPr lang="en-US" sz="4200" b="1" dirty="0">
                <a:solidFill>
                  <a:srgbClr val="EFEEE9"/>
                </a:solidFill>
                <a:latin typeface="Georgia" pitchFamily="34" charset="0"/>
                <a:ea typeface="Georgia" pitchFamily="34" charset="-122"/>
                <a:cs typeface="Georgia" pitchFamily="34" charset="-120"/>
              </a:rPr>
              <a:t>Measurement</a:t>
            </a:r>
            <a:endParaRPr lang="en-US" sz="4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Activity says work happened. Responsiveness says it kept pace.</a:t>
            </a:r>
            <a:endParaRPr lang="en-US" sz="3300" dirty="0"/>
          </a:p>
        </p:txBody>
      </p:sp>
      <p:pic>
        <p:nvPicPr>
          <p:cNvPr id="3" name="Image 0" descr="/home/claude/deckbuild/pngwarm/d-belt.png">    </p:cNvPr>
          <p:cNvPicPr>
            <a:picLocks noChangeAspect="1"/>
          </p:cNvPicPr>
          <p:nvPr/>
        </p:nvPicPr>
        <p:blipFill>
          <a:blip r:embed="rId2"/>
          <a:stretch>
            <a:fillRect/>
          </a:stretch>
        </p:blipFill>
        <p:spPr>
          <a:xfrm>
            <a:off x="777240" y="1188720"/>
            <a:ext cx="10607040" cy="3865277"/>
          </a:xfrm>
          <a:prstGeom prst="rect">
            <a:avLst/>
          </a:prstGeom>
        </p:spPr>
      </p:pic>
      <p:sp>
        <p:nvSpPr>
          <p:cNvPr id="4" name="Shape 1"/>
          <p:cNvSpPr/>
          <p:nvPr/>
        </p:nvSpPr>
        <p:spPr>
          <a:xfrm>
            <a:off x="777240" y="5440680"/>
            <a:ext cx="2560320" cy="731520"/>
          </a:xfrm>
          <a:prstGeom prst="roundRect">
            <a:avLst>
              <a:gd name="adj" fmla="val 43750"/>
            </a:avLst>
          </a:prstGeom>
          <a:solidFill>
            <a:srgbClr val="E7E5DE"/>
          </a:solidFill>
          <a:ln w="12700">
            <a:solidFill>
              <a:srgbClr val="1C1C1A"/>
            </a:solidFill>
            <a:prstDash val="solid"/>
          </a:ln>
        </p:spPr>
      </p:sp>
      <p:sp>
        <p:nvSpPr>
          <p:cNvPr id="5" name="Text 2"/>
          <p:cNvSpPr/>
          <p:nvPr/>
        </p:nvSpPr>
        <p:spPr>
          <a:xfrm>
            <a:off x="777240" y="5440680"/>
            <a:ext cx="2560320" cy="731520"/>
          </a:xfrm>
          <a:prstGeom prst="rect">
            <a:avLst/>
          </a:prstGeom>
          <a:noFill/>
          <a:ln/>
        </p:spPr>
        <p:txBody>
          <a:bodyPr wrap="square" lIns="0" tIns="0" rIns="0" bIns="0" rtlCol="0" anchor="ctr"/>
          <a:lstStyle/>
          <a:p>
            <a:pPr algn="ctr" indent="0" marL="0">
              <a:buNone/>
            </a:pPr>
            <a:r>
              <a:rPr lang="en-US" sz="1250" b="1" dirty="0">
                <a:solidFill>
                  <a:srgbClr val="1C1C1A"/>
                </a:solidFill>
                <a:latin typeface="Arial" pitchFamily="34" charset="0"/>
                <a:ea typeface="Arial" pitchFamily="34" charset="-122"/>
                <a:cs typeface="Arial" pitchFamily="34" charset="-120"/>
              </a:rPr>
              <a:t>Entitlement Drift Rate</a:t>
            </a:r>
            <a:endParaRPr lang="en-US" sz="1250" dirty="0"/>
          </a:p>
          <a:p>
            <a:pPr algn="ctr" indent="0" marL="0">
              <a:buNone/>
            </a:pPr>
            <a:r>
              <a:rPr lang="en-US" sz="1050" dirty="0">
                <a:solidFill>
                  <a:srgbClr val="66665E"/>
                </a:solidFill>
                <a:latin typeface="Arial" pitchFamily="34" charset="0"/>
                <a:ea typeface="Arial" pitchFamily="34" charset="-122"/>
                <a:cs typeface="Arial" pitchFamily="34" charset="-120"/>
              </a:rPr>
              <a:t>confirmed</a:t>
            </a:r>
            <a:endParaRPr lang="en-US" sz="1250" dirty="0"/>
          </a:p>
        </p:txBody>
      </p:sp>
      <p:sp>
        <p:nvSpPr>
          <p:cNvPr id="6" name="Shape 3"/>
          <p:cNvSpPr/>
          <p:nvPr/>
        </p:nvSpPr>
        <p:spPr>
          <a:xfrm>
            <a:off x="3520440" y="5440680"/>
            <a:ext cx="2560320" cy="731520"/>
          </a:xfrm>
          <a:prstGeom prst="roundRect">
            <a:avLst>
              <a:gd name="adj" fmla="val 43750"/>
            </a:avLst>
          </a:prstGeom>
          <a:solidFill>
            <a:srgbClr val="E7E5DE"/>
          </a:solidFill>
          <a:ln w="12700">
            <a:solidFill>
              <a:srgbClr val="1C1C1A"/>
            </a:solidFill>
            <a:prstDash val="solid"/>
          </a:ln>
        </p:spPr>
      </p:sp>
      <p:sp>
        <p:nvSpPr>
          <p:cNvPr id="7" name="Text 4"/>
          <p:cNvSpPr/>
          <p:nvPr/>
        </p:nvSpPr>
        <p:spPr>
          <a:xfrm>
            <a:off x="3520440" y="5440680"/>
            <a:ext cx="2560320" cy="731520"/>
          </a:xfrm>
          <a:prstGeom prst="rect">
            <a:avLst/>
          </a:prstGeom>
          <a:noFill/>
          <a:ln/>
        </p:spPr>
        <p:txBody>
          <a:bodyPr wrap="square" lIns="0" tIns="0" rIns="0" bIns="0" rtlCol="0" anchor="ctr"/>
          <a:lstStyle/>
          <a:p>
            <a:pPr algn="ctr" indent="0" marL="0">
              <a:buNone/>
            </a:pPr>
            <a:r>
              <a:rPr lang="en-US" sz="1250" b="1" dirty="0">
                <a:solidFill>
                  <a:srgbClr val="1C1C1A"/>
                </a:solidFill>
                <a:latin typeface="Arial" pitchFamily="34" charset="0"/>
                <a:ea typeface="Arial" pitchFamily="34" charset="-122"/>
                <a:cs typeface="Arial" pitchFamily="34" charset="-120"/>
              </a:rPr>
              <a:t>Governance Lag</a:t>
            </a:r>
            <a:endParaRPr lang="en-US" sz="1250" dirty="0"/>
          </a:p>
          <a:p>
            <a:pPr algn="ctr" indent="0" marL="0">
              <a:buNone/>
            </a:pPr>
            <a:r>
              <a:rPr lang="en-US" sz="1050" dirty="0">
                <a:solidFill>
                  <a:srgbClr val="66665E"/>
                </a:solidFill>
                <a:latin typeface="Arial" pitchFamily="34" charset="0"/>
                <a:ea typeface="Arial" pitchFamily="34" charset="-122"/>
                <a:cs typeface="Arial" pitchFamily="34" charset="-120"/>
              </a:rPr>
              <a:t>confirmed</a:t>
            </a:r>
            <a:endParaRPr lang="en-US" sz="1250" dirty="0"/>
          </a:p>
        </p:txBody>
      </p:sp>
      <p:sp>
        <p:nvSpPr>
          <p:cNvPr id="8" name="Shape 5"/>
          <p:cNvSpPr/>
          <p:nvPr/>
        </p:nvSpPr>
        <p:spPr>
          <a:xfrm>
            <a:off x="6263640" y="5440680"/>
            <a:ext cx="2560320" cy="731520"/>
          </a:xfrm>
          <a:prstGeom prst="roundRect">
            <a:avLst>
              <a:gd name="adj" fmla="val 43750"/>
            </a:avLst>
          </a:prstGeom>
          <a:solidFill>
            <a:srgbClr val="FFFFFF"/>
          </a:solidFill>
          <a:ln w="12700">
            <a:solidFill>
              <a:srgbClr val="1C1C1A"/>
            </a:solidFill>
            <a:prstDash val="dash"/>
          </a:ln>
        </p:spPr>
      </p:sp>
      <p:sp>
        <p:nvSpPr>
          <p:cNvPr id="9" name="Text 6"/>
          <p:cNvSpPr/>
          <p:nvPr/>
        </p:nvSpPr>
        <p:spPr>
          <a:xfrm>
            <a:off x="6263640" y="5440680"/>
            <a:ext cx="2560320" cy="731520"/>
          </a:xfrm>
          <a:prstGeom prst="rect">
            <a:avLst/>
          </a:prstGeom>
          <a:noFill/>
          <a:ln/>
        </p:spPr>
        <p:txBody>
          <a:bodyPr wrap="square" lIns="0" tIns="0" rIns="0" bIns="0" rtlCol="0" anchor="ctr"/>
          <a:lstStyle/>
          <a:p>
            <a:pPr algn="ctr" indent="0" marL="0">
              <a:buNone/>
            </a:pPr>
            <a:r>
              <a:rPr lang="en-US" sz="1250" b="1" dirty="0">
                <a:solidFill>
                  <a:srgbClr val="1C1C1A"/>
                </a:solidFill>
                <a:latin typeface="Arial" pitchFamily="34" charset="0"/>
                <a:ea typeface="Arial" pitchFamily="34" charset="-122"/>
                <a:cs typeface="Arial" pitchFamily="34" charset="-120"/>
              </a:rPr>
              <a:t>Justification Half-Life</a:t>
            </a:r>
            <a:endParaRPr lang="en-US" sz="1250" dirty="0"/>
          </a:p>
          <a:p>
            <a:pPr algn="ctr" indent="0" marL="0">
              <a:buNone/>
            </a:pPr>
            <a:r>
              <a:rPr lang="en-US" sz="1050" dirty="0">
                <a:solidFill>
                  <a:srgbClr val="66665E"/>
                </a:solidFill>
                <a:latin typeface="Arial" pitchFamily="34" charset="0"/>
                <a:ea typeface="Arial" pitchFamily="34" charset="-122"/>
                <a:cs typeface="Arial" pitchFamily="34" charset="-120"/>
              </a:rPr>
              <a:t>proposed</a:t>
            </a:r>
            <a:endParaRPr lang="en-US" sz="1250" dirty="0"/>
          </a:p>
        </p:txBody>
      </p:sp>
      <p:sp>
        <p:nvSpPr>
          <p:cNvPr id="10" name="Shape 7"/>
          <p:cNvSpPr/>
          <p:nvPr/>
        </p:nvSpPr>
        <p:spPr>
          <a:xfrm>
            <a:off x="9006840" y="5440680"/>
            <a:ext cx="2560320" cy="731520"/>
          </a:xfrm>
          <a:prstGeom prst="roundRect">
            <a:avLst>
              <a:gd name="adj" fmla="val 43750"/>
            </a:avLst>
          </a:prstGeom>
          <a:solidFill>
            <a:srgbClr val="FFFFFF"/>
          </a:solidFill>
          <a:ln w="12700">
            <a:solidFill>
              <a:srgbClr val="1C1C1A"/>
            </a:solidFill>
            <a:prstDash val="dash"/>
          </a:ln>
        </p:spPr>
      </p:sp>
      <p:sp>
        <p:nvSpPr>
          <p:cNvPr id="11" name="Text 8"/>
          <p:cNvSpPr/>
          <p:nvPr/>
        </p:nvSpPr>
        <p:spPr>
          <a:xfrm>
            <a:off x="9006840" y="5440680"/>
            <a:ext cx="2560320" cy="731520"/>
          </a:xfrm>
          <a:prstGeom prst="rect">
            <a:avLst/>
          </a:prstGeom>
          <a:noFill/>
          <a:ln/>
        </p:spPr>
        <p:txBody>
          <a:bodyPr wrap="square" lIns="0" tIns="0" rIns="0" bIns="0" rtlCol="0" anchor="ctr"/>
          <a:lstStyle/>
          <a:p>
            <a:pPr algn="ctr" indent="0" marL="0">
              <a:buNone/>
            </a:pPr>
            <a:r>
              <a:rPr lang="en-US" sz="1250" b="1" dirty="0">
                <a:solidFill>
                  <a:srgbClr val="1C1C1A"/>
                </a:solidFill>
                <a:latin typeface="Arial" pitchFamily="34" charset="0"/>
                <a:ea typeface="Arial" pitchFamily="34" charset="-122"/>
                <a:cs typeface="Arial" pitchFamily="34" charset="-120"/>
              </a:rPr>
              <a:t>Trust Gradient</a:t>
            </a:r>
            <a:endParaRPr lang="en-US" sz="1250" dirty="0"/>
          </a:p>
          <a:p>
            <a:pPr algn="ctr" indent="0" marL="0">
              <a:buNone/>
            </a:pPr>
            <a:r>
              <a:rPr lang="en-US" sz="1050" dirty="0">
                <a:solidFill>
                  <a:srgbClr val="66665E"/>
                </a:solidFill>
                <a:latin typeface="Arial" pitchFamily="34" charset="0"/>
                <a:ea typeface="Arial" pitchFamily="34" charset="-122"/>
                <a:cs typeface="Arial" pitchFamily="34" charset="-120"/>
              </a:rPr>
              <a:t>proposed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Entitlement Drift Rate: three readings of one window</a:t>
            </a:r>
            <a:endParaRPr lang="en-US" sz="3300" dirty="0"/>
          </a:p>
        </p:txBody>
      </p:sp>
      <p:pic>
        <p:nvPicPr>
          <p:cNvPr id="3" name="Image 0" descr="/home/claude/deckbuild/pngwarm/fig-06-entitlement-drift.png">    </p:cNvPr>
          <p:cNvPicPr>
            <a:picLocks noChangeAspect="1"/>
          </p:cNvPicPr>
          <p:nvPr/>
        </p:nvPicPr>
        <p:blipFill>
          <a:blip r:embed="rId2"/>
          <a:stretch>
            <a:fillRect/>
          </a:stretch>
        </p:blipFill>
        <p:spPr>
          <a:xfrm>
            <a:off x="502920" y="1371600"/>
            <a:ext cx="6309360" cy="2374312"/>
          </a:xfrm>
          <a:prstGeom prst="rect">
            <a:avLst/>
          </a:prstGeom>
        </p:spPr>
      </p:pic>
      <p:sp>
        <p:nvSpPr>
          <p:cNvPr id="4" name="Text 1"/>
          <p:cNvSpPr/>
          <p:nvPr/>
        </p:nvSpPr>
        <p:spPr>
          <a:xfrm>
            <a:off x="7086600" y="1554480"/>
            <a:ext cx="4480560" cy="2468880"/>
          </a:xfrm>
          <a:prstGeom prst="rect">
            <a:avLst/>
          </a:prstGeom>
          <a:noFill/>
          <a:ln/>
        </p:spPr>
        <p:txBody>
          <a:bodyPr wrap="square" lIns="0" tIns="0" rIns="0" bIns="0" rtlCol="0" anchor="ctr"/>
          <a:lstStyle/>
          <a:p>
            <a:pPr indent="0" marL="0">
              <a:buNone/>
            </a:pPr>
            <a:r>
              <a:rPr lang="en-US" sz="1350" b="1" dirty="0">
                <a:solidFill>
                  <a:srgbClr val="1C1C1A"/>
                </a:solidFill>
                <a:latin typeface="Courier New" pitchFamily="34" charset="0"/>
                <a:ea typeface="Courier New" pitchFamily="34" charset="-122"/>
                <a:cs typeface="Courier New" pitchFamily="34" charset="-120"/>
              </a:rPr>
              <a:t>GEV = G / (I x D)</a:t>
            </a:r>
            <a:endParaRPr lang="en-US" sz="1350" dirty="0"/>
          </a:p>
          <a:p>
            <a:pPr indent="0" marL="0">
              <a:spcAft>
                <a:spcPts val="800"/>
              </a:spcAft>
              <a:buNone/>
            </a:pPr>
            <a:r>
              <a:rPr lang="en-US" sz="1250" dirty="0">
                <a:solidFill>
                  <a:srgbClr val="66665E"/>
                </a:solidFill>
                <a:latin typeface="Arial" pitchFamily="34" charset="0"/>
                <a:ea typeface="Arial" pitchFamily="34" charset="-122"/>
                <a:cs typeface="Arial" pitchFamily="34" charset="-120"/>
              </a:rPr>
              <a:t>churn, independent of direction</a:t>
            </a:r>
            <a:endParaRPr lang="en-US" sz="1350" dirty="0"/>
          </a:p>
          <a:p>
            <a:pPr indent="0" marL="0">
              <a:buNone/>
            </a:pPr>
            <a:r>
              <a:rPr lang="en-US" sz="1350" b="1" dirty="0">
                <a:solidFill>
                  <a:srgbClr val="1C1C1A"/>
                </a:solidFill>
                <a:latin typeface="Courier New" pitchFamily="34" charset="0"/>
                <a:ea typeface="Courier New" pitchFamily="34" charset="-122"/>
                <a:cs typeface="Courier New" pitchFamily="34" charset="-120"/>
              </a:rPr>
              <a:t>NED = (G - R) / (I x D)</a:t>
            </a:r>
            <a:endParaRPr lang="en-US" sz="1350" dirty="0"/>
          </a:p>
          <a:p>
            <a:pPr indent="0" marL="0">
              <a:spcAft>
                <a:spcPts val="800"/>
              </a:spcAft>
              <a:buNone/>
            </a:pPr>
            <a:r>
              <a:rPr lang="en-US" sz="1250" dirty="0">
                <a:solidFill>
                  <a:srgbClr val="66665E"/>
                </a:solidFill>
                <a:latin typeface="Arial" pitchFamily="34" charset="0"/>
                <a:ea typeface="Arial" pitchFamily="34" charset="-122"/>
                <a:cs typeface="Arial" pitchFamily="34" charset="-120"/>
              </a:rPr>
              <a:t>expansion or contraction</a:t>
            </a:r>
            <a:endParaRPr lang="en-US" sz="1350" dirty="0"/>
          </a:p>
          <a:p>
            <a:pPr indent="0" marL="0">
              <a:buNone/>
            </a:pPr>
            <a:r>
              <a:rPr lang="en-US" sz="1350" b="1" dirty="0">
                <a:solidFill>
                  <a:srgbClr val="1C1C1A"/>
                </a:solidFill>
                <a:latin typeface="Courier New" pitchFamily="34" charset="0"/>
                <a:ea typeface="Courier New" pitchFamily="34" charset="-122"/>
                <a:cs typeface="Courier New" pitchFamily="34" charset="-120"/>
              </a:rPr>
              <a:t>UED = U / (I x D)</a:t>
            </a:r>
            <a:endParaRPr lang="en-US" sz="1350" dirty="0"/>
          </a:p>
          <a:p>
            <a:pPr indent="0" marL="0">
              <a:spcAft>
                <a:spcPts val="800"/>
              </a:spcAft>
              <a:buNone/>
            </a:pPr>
            <a:r>
              <a:rPr lang="en-US" sz="1250" dirty="0">
                <a:solidFill>
                  <a:srgbClr val="66665E"/>
                </a:solidFill>
                <a:latin typeface="Arial" pitchFamily="34" charset="0"/>
                <a:ea typeface="Arial" pitchFamily="34" charset="-122"/>
                <a:cs typeface="Arial" pitchFamily="34" charset="-120"/>
              </a:rPr>
              <a:t>governance debt</a:t>
            </a:r>
            <a:endParaRPr lang="en-US" sz="1350" dirty="0"/>
          </a:p>
        </p:txBody>
      </p:sp>
      <p:sp>
        <p:nvSpPr>
          <p:cNvPr id="5" name="Text 2"/>
          <p:cNvSpPr/>
          <p:nvPr/>
        </p:nvSpPr>
        <p:spPr>
          <a:xfrm>
            <a:off x="7086600" y="3977640"/>
            <a:ext cx="4480560" cy="1554480"/>
          </a:xfrm>
          <a:prstGeom prst="rect">
            <a:avLst/>
          </a:prstGeom>
          <a:noFill/>
          <a:ln/>
        </p:spPr>
        <p:txBody>
          <a:bodyPr wrap="square" rtlCol="0" anchor="ctr"/>
          <a:lstStyle/>
          <a:p>
            <a:pPr indent="0" marL="0">
              <a:buNone/>
            </a:pPr>
            <a:r>
              <a:rPr lang="en-US" sz="1300" dirty="0">
                <a:solidFill>
                  <a:srgbClr val="1C1C1A"/>
                </a:solidFill>
                <a:latin typeface="Arial" pitchFamily="34" charset="0"/>
                <a:ea typeface="Arial" pitchFamily="34" charset="-122"/>
                <a:cs typeface="Arial" pitchFamily="34" charset="-120"/>
              </a:rPr>
              <a:t>Report the per-campaign figure: 1.6 unreviewed entitlements per identity per campaign lands in an executive room; 0.018 per identity per day does not. Same measurement, declared window (MS1).</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Governance Lag: the risk window before governance begins</a:t>
            </a:r>
            <a:endParaRPr lang="en-US" sz="3300" dirty="0"/>
          </a:p>
        </p:txBody>
      </p:sp>
      <p:pic>
        <p:nvPicPr>
          <p:cNvPr id="3" name="Image 0" descr="/home/claude/deckbuild/pngwarm/fig-03-governance-lag.png">    </p:cNvPr>
          <p:cNvPicPr>
            <a:picLocks noChangeAspect="1"/>
          </p:cNvPicPr>
          <p:nvPr/>
        </p:nvPicPr>
        <p:blipFill>
          <a:blip r:embed="rId2"/>
          <a:stretch>
            <a:fillRect/>
          </a:stretch>
        </p:blipFill>
        <p:spPr>
          <a:xfrm>
            <a:off x="640080" y="1371600"/>
            <a:ext cx="6766560" cy="1869707"/>
          </a:xfrm>
          <a:prstGeom prst="rect">
            <a:avLst/>
          </a:prstGeom>
        </p:spPr>
      </p:pic>
      <p:sp>
        <p:nvSpPr>
          <p:cNvPr id="4" name="Text 1"/>
          <p:cNvSpPr/>
          <p:nvPr/>
        </p:nvSpPr>
        <p:spPr>
          <a:xfrm>
            <a:off x="640080" y="3520440"/>
            <a:ext cx="6766560" cy="365760"/>
          </a:xfrm>
          <a:prstGeom prst="rect">
            <a:avLst/>
          </a:prstGeom>
          <a:noFill/>
          <a:ln/>
        </p:spPr>
        <p:txBody>
          <a:bodyPr wrap="square" rtlCol="0" anchor="ctr"/>
          <a:lstStyle/>
          <a:p>
            <a:pPr indent="0" marL="0">
              <a:buNone/>
            </a:pPr>
            <a:r>
              <a:rPr lang="en-US" sz="1400" b="1" dirty="0">
                <a:solidFill>
                  <a:srgbClr val="1C1C1A"/>
                </a:solidFill>
                <a:latin typeface="Courier New" pitchFamily="34" charset="0"/>
                <a:ea typeface="Courier New" pitchFamily="34" charset="-122"/>
                <a:cs typeface="Courier New" pitchFamily="34" charset="-120"/>
              </a:rPr>
              <a:t>GL = T(detection) - T(inappropriateness)</a:t>
            </a:r>
            <a:endParaRPr lang="en-US" sz="1400" dirty="0"/>
          </a:p>
        </p:txBody>
      </p:sp>
      <p:sp>
        <p:nvSpPr>
          <p:cNvPr id="5" name="Shape 2"/>
          <p:cNvSpPr/>
          <p:nvPr/>
        </p:nvSpPr>
        <p:spPr>
          <a:xfrm>
            <a:off x="7818120" y="1554480"/>
            <a:ext cx="3657600" cy="1463040"/>
          </a:xfrm>
          <a:prstGeom prst="roundRect">
            <a:avLst>
              <a:gd name="adj" fmla="val 5000"/>
            </a:avLst>
          </a:prstGeom>
          <a:solidFill>
            <a:srgbClr val="F8F7F3"/>
          </a:solidFill>
          <a:ln w="11430">
            <a:solidFill>
              <a:srgbClr val="D4D2C8"/>
            </a:solidFill>
            <a:prstDash val="solid"/>
          </a:ln>
        </p:spPr>
      </p:sp>
      <p:sp>
        <p:nvSpPr>
          <p:cNvPr id="6" name="Text 3"/>
          <p:cNvSpPr/>
          <p:nvPr/>
        </p:nvSpPr>
        <p:spPr>
          <a:xfrm>
            <a:off x="8092440" y="1719072"/>
            <a:ext cx="3108960" cy="685800"/>
          </a:xfrm>
          <a:prstGeom prst="rect">
            <a:avLst/>
          </a:prstGeom>
          <a:noFill/>
          <a:ln/>
        </p:spPr>
        <p:txBody>
          <a:bodyPr wrap="square" rtlCol="0" anchor="ctr"/>
          <a:lstStyle/>
          <a:p>
            <a:pPr indent="0" marL="0">
              <a:buNone/>
            </a:pPr>
            <a:r>
              <a:rPr lang="en-US" sz="3400" b="1" dirty="0">
                <a:solidFill>
                  <a:srgbClr val="1C1C1A"/>
                </a:solidFill>
                <a:latin typeface="Georgia" pitchFamily="34" charset="0"/>
                <a:ea typeface="Georgia" pitchFamily="34" charset="-122"/>
                <a:cs typeface="Georgia" pitchFamily="34" charset="-120"/>
              </a:rPr>
              <a:t>74 days</a:t>
            </a:r>
            <a:endParaRPr lang="en-US" sz="3400" dirty="0"/>
          </a:p>
        </p:txBody>
      </p:sp>
      <p:sp>
        <p:nvSpPr>
          <p:cNvPr id="7" name="Text 4"/>
          <p:cNvSpPr/>
          <p:nvPr/>
        </p:nvSpPr>
        <p:spPr>
          <a:xfrm>
            <a:off x="8092440" y="2423160"/>
            <a:ext cx="3108960" cy="365760"/>
          </a:xfrm>
          <a:prstGeom prst="rect">
            <a:avLst/>
          </a:prstGeom>
          <a:noFill/>
          <a:ln/>
        </p:spPr>
        <p:txBody>
          <a:bodyPr wrap="square" rtlCol="0" anchor="ctr"/>
          <a:lstStyle/>
          <a:p>
            <a:pPr indent="0" marL="0">
              <a:buNone/>
            </a:pPr>
            <a:r>
              <a:rPr lang="en-US" sz="1300" dirty="0">
                <a:solidFill>
                  <a:srgbClr val="66665E"/>
                </a:solidFill>
                <a:latin typeface="Arial" pitchFamily="34" charset="0"/>
                <a:ea typeface="Arial" pitchFamily="34" charset="-122"/>
                <a:cs typeface="Arial" pitchFamily="34" charset="-120"/>
              </a:rPr>
              <a:t>human median</a:t>
            </a:r>
            <a:endParaRPr lang="en-US" sz="1300" dirty="0"/>
          </a:p>
        </p:txBody>
      </p:sp>
      <p:sp>
        <p:nvSpPr>
          <p:cNvPr id="8" name="Shape 5"/>
          <p:cNvSpPr/>
          <p:nvPr/>
        </p:nvSpPr>
        <p:spPr>
          <a:xfrm>
            <a:off x="7818120" y="3246120"/>
            <a:ext cx="3657600" cy="1463040"/>
          </a:xfrm>
          <a:prstGeom prst="roundRect">
            <a:avLst>
              <a:gd name="adj" fmla="val 5000"/>
            </a:avLst>
          </a:prstGeom>
          <a:solidFill>
            <a:srgbClr val="E7E5DE"/>
          </a:solidFill>
          <a:ln w="11430">
            <a:solidFill>
              <a:srgbClr val="D4D2C8"/>
            </a:solidFill>
            <a:prstDash val="solid"/>
          </a:ln>
        </p:spPr>
      </p:sp>
      <p:sp>
        <p:nvSpPr>
          <p:cNvPr id="9" name="Text 6"/>
          <p:cNvSpPr/>
          <p:nvPr/>
        </p:nvSpPr>
        <p:spPr>
          <a:xfrm>
            <a:off x="8092440" y="3410712"/>
            <a:ext cx="3108960" cy="685800"/>
          </a:xfrm>
          <a:prstGeom prst="rect">
            <a:avLst/>
          </a:prstGeom>
          <a:noFill/>
          <a:ln/>
        </p:spPr>
        <p:txBody>
          <a:bodyPr wrap="square" rtlCol="0" anchor="ctr"/>
          <a:lstStyle/>
          <a:p>
            <a:pPr indent="0" marL="0">
              <a:buNone/>
            </a:pPr>
            <a:r>
              <a:rPr lang="en-US" sz="3400" b="1" dirty="0">
                <a:solidFill>
                  <a:srgbClr val="1C1C1A"/>
                </a:solidFill>
                <a:latin typeface="Georgia" pitchFamily="34" charset="0"/>
                <a:ea typeface="Georgia" pitchFamily="34" charset="-122"/>
                <a:cs typeface="Georgia" pitchFamily="34" charset="-120"/>
              </a:rPr>
              <a:t>211 days</a:t>
            </a:r>
            <a:endParaRPr lang="en-US" sz="3400" dirty="0"/>
          </a:p>
        </p:txBody>
      </p:sp>
      <p:sp>
        <p:nvSpPr>
          <p:cNvPr id="10" name="Text 7"/>
          <p:cNvSpPr/>
          <p:nvPr/>
        </p:nvSpPr>
        <p:spPr>
          <a:xfrm>
            <a:off x="8092440" y="4114800"/>
            <a:ext cx="3108960" cy="365760"/>
          </a:xfrm>
          <a:prstGeom prst="rect">
            <a:avLst/>
          </a:prstGeom>
          <a:noFill/>
          <a:ln/>
        </p:spPr>
        <p:txBody>
          <a:bodyPr wrap="square" rtlCol="0" anchor="ctr"/>
          <a:lstStyle/>
          <a:p>
            <a:pPr indent="0" marL="0">
              <a:buNone/>
            </a:pPr>
            <a:r>
              <a:rPr lang="en-US" sz="1300" dirty="0">
                <a:solidFill>
                  <a:srgbClr val="66665E"/>
                </a:solidFill>
                <a:latin typeface="Arial" pitchFamily="34" charset="0"/>
                <a:ea typeface="Arial" pitchFamily="34" charset="-122"/>
                <a:cs typeface="Arial" pitchFamily="34" charset="-120"/>
              </a:rPr>
              <a:t>non-human</a:t>
            </a:r>
            <a:endParaRPr lang="en-US" sz="1300" dirty="0"/>
          </a:p>
        </p:txBody>
      </p:sp>
      <p:sp>
        <p:nvSpPr>
          <p:cNvPr id="11" name="Text 8"/>
          <p:cNvSpPr/>
          <p:nvPr/>
        </p:nvSpPr>
        <p:spPr>
          <a:xfrm>
            <a:off x="640080" y="5394960"/>
            <a:ext cx="10881360" cy="640080"/>
          </a:xfrm>
          <a:prstGeom prst="rect">
            <a:avLst/>
          </a:prstGeom>
          <a:noFill/>
          <a:ln/>
        </p:spPr>
        <p:txBody>
          <a:bodyPr wrap="square" rtlCol="0" anchor="ctr"/>
          <a:lstStyle/>
          <a:p>
            <a:pPr indent="0" marL="0">
              <a:buNone/>
            </a:pPr>
            <a:r>
              <a:rPr lang="en-US" sz="1300" i="1" dirty="0">
                <a:solidFill>
                  <a:srgbClr val="66665E"/>
                </a:solidFill>
                <a:latin typeface="Arial" pitchFamily="34" charset="0"/>
                <a:ea typeface="Arial" pitchFamily="34" charset="-122"/>
                <a:cs typeface="Arial" pitchFamily="34" charset="-120"/>
              </a:rPr>
              <a:t>Worked sample from the source paper, non-normative: the gap between the two numbers is the machine-identity governance vacuum made visible.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Two more metrics, honestly labelled: proposed</a:t>
            </a:r>
            <a:endParaRPr lang="en-US" sz="3300" dirty="0"/>
          </a:p>
        </p:txBody>
      </p:sp>
      <p:pic>
        <p:nvPicPr>
          <p:cNvPr id="3" name="Image 0" descr="/home/claude/deckbuild/pngwarm/fig-04-justification-half-life.png">    </p:cNvPr>
          <p:cNvPicPr>
            <a:picLocks noChangeAspect="1"/>
          </p:cNvPicPr>
          <p:nvPr/>
        </p:nvPicPr>
        <p:blipFill>
          <a:blip r:embed="rId2"/>
          <a:stretch>
            <a:fillRect/>
          </a:stretch>
        </p:blipFill>
        <p:spPr>
          <a:xfrm>
            <a:off x="502920" y="1463040"/>
            <a:ext cx="5577840" cy="1922887"/>
          </a:xfrm>
          <a:prstGeom prst="rect">
            <a:avLst/>
          </a:prstGeom>
        </p:spPr>
      </p:pic>
      <p:pic>
        <p:nvPicPr>
          <p:cNvPr id="4" name="Image 1" descr="/home/claude/deckbuild/pngwarm/fig-05-trust-gradient.png">    </p:cNvPr>
          <p:cNvPicPr>
            <a:picLocks noChangeAspect="1"/>
          </p:cNvPicPr>
          <p:nvPr/>
        </p:nvPicPr>
        <p:blipFill>
          <a:blip r:embed="rId3"/>
          <a:stretch>
            <a:fillRect/>
          </a:stretch>
        </p:blipFill>
        <p:spPr>
          <a:xfrm>
            <a:off x="6263640" y="1463040"/>
            <a:ext cx="5577840" cy="2099029"/>
          </a:xfrm>
          <a:prstGeom prst="rect">
            <a:avLst/>
          </a:prstGeom>
        </p:spPr>
      </p:pic>
      <p:sp>
        <p:nvSpPr>
          <p:cNvPr id="5" name="Text 1"/>
          <p:cNvSpPr/>
          <p:nvPr/>
        </p:nvSpPr>
        <p:spPr>
          <a:xfrm>
            <a:off x="640080" y="4892040"/>
            <a:ext cx="10881360" cy="1280160"/>
          </a:xfrm>
          <a:prstGeom prst="rect">
            <a:avLst/>
          </a:prstGeom>
          <a:noFill/>
          <a:ln/>
        </p:spPr>
        <p:txBody>
          <a:bodyPr wrap="square" rtlCol="0" anchor="ctr"/>
          <a:lstStyle/>
          <a:p>
            <a:pPr indent="0" marL="0">
              <a:buNone/>
            </a:pPr>
            <a:r>
              <a:rPr lang="en-US" sz="1400" b="1" dirty="0">
                <a:solidFill>
                  <a:srgbClr val="1C1C1A"/>
                </a:solidFill>
                <a:latin typeface="Arial" pitchFamily="34" charset="0"/>
                <a:ea typeface="Arial" pitchFamily="34" charset="-122"/>
                <a:cs typeface="Arial" pitchFamily="34" charset="-120"/>
              </a:rPr>
              <a:t>Justification Half-Life</a:t>
            </a:r>
            <a:pPr indent="0" marL="0">
              <a:buNone/>
            </a:pPr>
            <a:r>
              <a:rPr lang="en-US" sz="1400" dirty="0">
                <a:solidFill>
                  <a:srgbClr val="66665E"/>
                </a:solidFill>
                <a:latin typeface="Arial" pitchFamily="34" charset="0"/>
                <a:ea typeface="Arial" pitchFamily="34" charset="-122"/>
                <a:cs typeface="Arial" pitchFamily="34" charset="-120"/>
              </a:rPr>
              <a:t> reads how fast the reason for access decays, and makes certification cadence risk-proportionate.   </a:t>
            </a:r>
            <a:pPr indent="0" marL="0">
              <a:buNone/>
            </a:pPr>
            <a:r>
              <a:rPr lang="en-US" sz="1400" b="1" dirty="0">
                <a:solidFill>
                  <a:srgbClr val="1C1C1A"/>
                </a:solidFill>
                <a:latin typeface="Arial" pitchFamily="34" charset="0"/>
                <a:ea typeface="Arial" pitchFamily="34" charset="-122"/>
                <a:cs typeface="Arial" pitchFamily="34" charset="-120"/>
              </a:rPr>
              <a:t>Trust Gradient</a:t>
            </a:r>
            <a:pPr indent="0" marL="0">
              <a:buNone/>
            </a:pPr>
            <a:r>
              <a:rPr lang="en-US" sz="1400" dirty="0">
                <a:solidFill>
                  <a:srgbClr val="66665E"/>
                </a:solidFill>
                <a:latin typeface="Arial" pitchFamily="34" charset="0"/>
                <a:ea typeface="Arial" pitchFamily="34" charset="-122"/>
                <a:cs typeface="Arial" pitchFamily="34" charset="-120"/>
              </a:rPr>
              <a:t> turns bulk certification into continuously prioritized attention. Both layer mappings await empirical confirmation against pilot data, and neither carries normative weight until that evidence exists.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Where are the benchmarks?</a:t>
            </a:r>
            <a:endParaRPr lang="en-US" sz="3300" dirty="0"/>
          </a:p>
        </p:txBody>
      </p:sp>
      <p:pic>
        <p:nvPicPr>
          <p:cNvPr id="3" name="Image 0" descr="/home/claude/deckbuild/pngwarm/d-trend.png">    </p:cNvPr>
          <p:cNvPicPr>
            <a:picLocks noChangeAspect="1"/>
          </p:cNvPicPr>
          <p:nvPr/>
        </p:nvPicPr>
        <p:blipFill>
          <a:blip r:embed="rId2"/>
          <a:stretch>
            <a:fillRect/>
          </a:stretch>
        </p:blipFill>
        <p:spPr>
          <a:xfrm>
            <a:off x="868680" y="1417320"/>
            <a:ext cx="10424160" cy="3533614"/>
          </a:xfrm>
          <a:prstGeom prst="rect">
            <a:avLst/>
          </a:prstGeom>
        </p:spPr>
      </p:pic>
      <p:sp>
        <p:nvSpPr>
          <p:cNvPr id="4" name="Text 1"/>
          <p:cNvSpPr/>
          <p:nvPr/>
        </p:nvSpPr>
        <p:spPr>
          <a:xfrm>
            <a:off x="1280160" y="5623560"/>
            <a:ext cx="9601200" cy="685800"/>
          </a:xfrm>
          <a:prstGeom prst="rect">
            <a:avLst/>
          </a:prstGeom>
          <a:noFill/>
          <a:ln/>
        </p:spPr>
        <p:txBody>
          <a:bodyPr wrap="square" rtlCol="0" anchor="ctr"/>
          <a:lstStyle/>
          <a:p>
            <a:pPr algn="ctr" indent="0" marL="0">
              <a:buNone/>
            </a:pPr>
            <a:r>
              <a:rPr lang="en-US" sz="1400" dirty="0">
                <a:solidFill>
                  <a:srgbClr val="1C1C1A"/>
                </a:solidFill>
                <a:latin typeface="Arial" pitchFamily="34" charset="0"/>
                <a:ea typeface="Arial" pitchFamily="34" charset="-122"/>
                <a:cs typeface="Arial" pitchFamily="34" charset="-120"/>
              </a:rPr>
              <a:t>MS5: targets and thresholds are the program's own until published reference data exists. A threshold without a reference dataset is a guess wearing authority.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4297680"/>
            <a:ext cx="11430000" cy="2103120"/>
          </a:xfrm>
          <a:prstGeom prst="rect">
            <a:avLst/>
          </a:prstGeom>
          <a:noFill/>
          <a:ln/>
        </p:spPr>
        <p:txBody>
          <a:bodyPr wrap="square" lIns="0" tIns="0" rIns="0" bIns="0" rtlCol="0" anchor="ctr"/>
          <a:lstStyle/>
          <a:p>
            <a:pPr algn="l" indent="0" marL="0">
              <a:buNone/>
            </a:pPr>
            <a:r>
              <a:rPr lang="en-US" sz="11000" i="1" dirty="0">
                <a:solidFill>
                  <a:srgbClr val="2A2A27"/>
                </a:solidFill>
                <a:latin typeface="Georgia" pitchFamily="34" charset="0"/>
                <a:ea typeface="Georgia" pitchFamily="34" charset="-122"/>
                <a:cs typeface="Georgia" pitchFamily="34" charset="-120"/>
              </a:rPr>
              <a:t>when</a:t>
            </a:r>
            <a:endParaRPr lang="en-US" sz="11000" dirty="0"/>
          </a:p>
        </p:txBody>
      </p:sp>
      <p:sp>
        <p:nvSpPr>
          <p:cNvPr id="3" name="Text 1"/>
          <p:cNvSpPr/>
          <p:nvPr/>
        </p:nvSpPr>
        <p:spPr>
          <a:xfrm>
            <a:off x="822960" y="2148840"/>
            <a:ext cx="10058400" cy="365760"/>
          </a:xfrm>
          <a:prstGeom prst="rect">
            <a:avLst/>
          </a:prstGeom>
          <a:noFill/>
          <a:ln/>
        </p:spPr>
        <p:txBody>
          <a:bodyPr wrap="square" rtlCol="0" anchor="ctr"/>
          <a:lstStyle/>
          <a:p>
            <a:pPr indent="0" marL="0">
              <a:buNone/>
            </a:pPr>
            <a:r>
              <a:rPr lang="en-US" sz="1300" b="1" spc="350" kern="0" dirty="0">
                <a:solidFill>
                  <a:srgbClr val="A2A299"/>
                </a:solidFill>
                <a:latin typeface="Courier New" pitchFamily="34" charset="0"/>
                <a:ea typeface="Courier New" pitchFamily="34" charset="-122"/>
                <a:cs typeface="Courier New" pitchFamily="34" charset="-120"/>
              </a:rPr>
              <a:t>PART THREE</a:t>
            </a:r>
            <a:endParaRPr lang="en-US" sz="1300" dirty="0"/>
          </a:p>
        </p:txBody>
      </p:sp>
      <p:sp>
        <p:nvSpPr>
          <p:cNvPr id="4" name="Text 2"/>
          <p:cNvSpPr/>
          <p:nvPr/>
        </p:nvSpPr>
        <p:spPr>
          <a:xfrm>
            <a:off x="822960" y="2560320"/>
            <a:ext cx="10515600" cy="1005840"/>
          </a:xfrm>
          <a:prstGeom prst="rect">
            <a:avLst/>
          </a:prstGeom>
          <a:noFill/>
          <a:ln/>
        </p:spPr>
        <p:txBody>
          <a:bodyPr wrap="square" rtlCol="0" anchor="ctr"/>
          <a:lstStyle/>
          <a:p>
            <a:pPr indent="0" marL="0">
              <a:buNone/>
            </a:pPr>
            <a:r>
              <a:rPr lang="en-US" sz="4200" b="1" dirty="0">
                <a:solidFill>
                  <a:srgbClr val="EFEEE9"/>
                </a:solidFill>
                <a:latin typeface="Georgia" pitchFamily="34" charset="0"/>
                <a:ea typeface="Georgia" pitchFamily="34" charset="-122"/>
                <a:cs typeface="Georgia" pitchFamily="34" charset="-120"/>
              </a:rPr>
              <a:t>Using it in an engagement</a:t>
            </a:r>
            <a:endParaRPr lang="en-US" sz="4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One organization, end to end: the worked example</a:t>
            </a:r>
            <a:endParaRPr lang="en-US" sz="3300" dirty="0"/>
          </a:p>
        </p:txBody>
      </p:sp>
      <p:pic>
        <p:nvPicPr>
          <p:cNvPr id="3" name="Image 0" descr="/home/claude/deckbuild/pngwarm/d-fernway.png">    </p:cNvPr>
          <p:cNvPicPr>
            <a:picLocks noChangeAspect="1"/>
          </p:cNvPicPr>
          <p:nvPr/>
        </p:nvPicPr>
        <p:blipFill>
          <a:blip r:embed="rId2"/>
          <a:stretch>
            <a:fillRect/>
          </a:stretch>
        </p:blipFill>
        <p:spPr>
          <a:xfrm>
            <a:off x="868680" y="1325880"/>
            <a:ext cx="10424160" cy="4770378"/>
          </a:xfrm>
          <a:prstGeom prst="rect">
            <a:avLst/>
          </a:prstGeom>
        </p:spPr>
      </p:pic>
      <p:sp>
        <p:nvSpPr>
          <p:cNvPr id="4" name="Text 1"/>
          <p:cNvSpPr/>
          <p:nvPr/>
        </p:nvSpPr>
        <p:spPr>
          <a:xfrm>
            <a:off x="640080" y="5943600"/>
            <a:ext cx="10881360" cy="457200"/>
          </a:xfrm>
          <a:prstGeom prst="rect">
            <a:avLst/>
          </a:prstGeom>
          <a:noFill/>
          <a:ln/>
        </p:spPr>
        <p:txBody>
          <a:bodyPr wrap="square" rtlCol="0" anchor="ctr"/>
          <a:lstStyle/>
          <a:p>
            <a:pPr algn="ctr" indent="0" marL="0">
              <a:buNone/>
            </a:pPr>
            <a:r>
              <a:rPr lang="en-US" sz="1300" i="1" dirty="0">
                <a:solidFill>
                  <a:srgbClr val="66665E"/>
                </a:solidFill>
                <a:latin typeface="Arial" pitchFamily="34" charset="0"/>
                <a:ea typeface="Arial" pitchFamily="34" charset="-122"/>
                <a:cs typeface="Arial" pitchFamily="34" charset="-120"/>
              </a:rPr>
              <a:t>Fernway Software is fictional: a 300-person greenfield SaaS, walked through all six layers in examples/ with every worksheet filled.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The engagement arc: four steps, all artifacts in the repository</a:t>
            </a:r>
            <a:endParaRPr lang="en-US" sz="3300" dirty="0"/>
          </a:p>
        </p:txBody>
      </p:sp>
      <p:pic>
        <p:nvPicPr>
          <p:cNvPr id="3" name="Image 0" descr="/home/claude/deckbuild/pngwarm/d-arc.png">    </p:cNvPr>
          <p:cNvPicPr>
            <a:picLocks noChangeAspect="1"/>
          </p:cNvPicPr>
          <p:nvPr/>
        </p:nvPicPr>
        <p:blipFill>
          <a:blip r:embed="rId2"/>
          <a:stretch>
            <a:fillRect/>
          </a:stretch>
        </p:blipFill>
        <p:spPr>
          <a:xfrm>
            <a:off x="868680" y="1554480"/>
            <a:ext cx="10424160" cy="291523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384048"/>
            <a:ext cx="8778240" cy="685800"/>
          </a:xfrm>
          <a:prstGeom prst="rect">
            <a:avLst/>
          </a:prstGeom>
          <a:noFill/>
          <a:ln/>
        </p:spPr>
        <p:txBody>
          <a:bodyPr wrap="square" lIns="0" tIns="0" rIns="0" bIns="0" rtlCol="0" anchor="ctr"/>
          <a:lstStyle/>
          <a:p>
            <a:pPr indent="0" marL="0">
              <a:buNone/>
            </a:pPr>
            <a:r>
              <a:rPr lang="en-US" sz="3300" b="1" dirty="0">
                <a:solidFill>
                  <a:srgbClr val="1C1C1A"/>
                </a:solidFill>
                <a:latin typeface="Georgia" pitchFamily="34" charset="0"/>
                <a:ea typeface="Georgia" pitchFamily="34" charset="-122"/>
                <a:cs typeface="Georgia" pitchFamily="34" charset="-120"/>
              </a:rPr>
              <a:t>Where the framework stands, and how it changes</a:t>
            </a:r>
            <a:endParaRPr lang="en-US" sz="3300" dirty="0"/>
          </a:p>
        </p:txBody>
      </p:sp>
      <p:sp>
        <p:nvSpPr>
          <p:cNvPr id="3" name="Text 1"/>
          <p:cNvSpPr/>
          <p:nvPr/>
        </p:nvSpPr>
        <p:spPr>
          <a:xfrm>
            <a:off x="640080" y="1645920"/>
            <a:ext cx="6675120" cy="3931920"/>
          </a:xfrm>
          <a:prstGeom prst="rect">
            <a:avLst/>
          </a:prstGeom>
          <a:noFill/>
          <a:ln/>
        </p:spPr>
        <p:txBody>
          <a:bodyPr wrap="square" rtlCol="0" anchor="ctr"/>
          <a:lstStyle/>
          <a:p>
            <a:pPr marL="177800" indent="-177800">
              <a:spcAft>
                <a:spcPts val="800"/>
              </a:spcAft>
              <a:buSzPct val="100000"/>
              <a:buChar char="•"/>
            </a:pPr>
            <a:r>
              <a:rPr lang="en-US" sz="1500" dirty="0">
                <a:solidFill>
                  <a:srgbClr val="1C1C1A"/>
                </a:solidFill>
                <a:latin typeface="Arial" pitchFamily="34" charset="0"/>
                <a:ea typeface="Arial" pitchFamily="34" charset="-122"/>
                <a:cs typeface="Arial" pitchFamily="34" charset="-120"/>
              </a:rPr>
              <a:t>v0.1 public draft: nothing ratified, normative language carried for review</a:t>
            </a:r>
            <a:endParaRPr lang="en-US" sz="1500" dirty="0"/>
          </a:p>
          <a:p>
            <a:pPr marL="177800" indent="-177800">
              <a:spcAft>
                <a:spcPts val="800"/>
              </a:spcAft>
              <a:buSzPct val="100000"/>
              <a:buChar char="•"/>
            </a:pPr>
            <a:r>
              <a:rPr lang="en-US" sz="1500" dirty="0">
                <a:solidFill>
                  <a:srgbClr val="1C1C1A"/>
                </a:solidFill>
                <a:latin typeface="Arial" pitchFamily="34" charset="0"/>
                <a:ea typeface="Arial" pitchFamily="34" charset="-122"/>
                <a:cs typeface="Arial" pitchFamily="34" charset="-120"/>
              </a:rPr>
              <a:t>Confirmed: EDR on Scope, GL on Cadence. Proposed: TG on Prioritization, JHL on Process, pending pilot evidence</a:t>
            </a:r>
            <a:endParaRPr lang="en-US" sz="1500" dirty="0"/>
          </a:p>
          <a:p>
            <a:pPr marL="177800" indent="-177800">
              <a:spcAft>
                <a:spcPts val="800"/>
              </a:spcAft>
              <a:buSzPct val="100000"/>
              <a:buChar char="•"/>
            </a:pPr>
            <a:r>
              <a:rPr lang="en-US" sz="1500" dirty="0">
                <a:solidFill>
                  <a:srgbClr val="1C1C1A"/>
                </a:solidFill>
                <a:latin typeface="Arial" pitchFamily="34" charset="0"/>
                <a:ea typeface="Arial" pitchFamily="34" charset="-122"/>
                <a:cs typeface="Arial" pitchFamily="34" charset="-120"/>
              </a:rPr>
              <a:t>Feedback lands as repository issues, cited by statement identifier; templates are pre-shaped for it</a:t>
            </a:r>
            <a:endParaRPr lang="en-US" sz="1500" dirty="0"/>
          </a:p>
          <a:p>
            <a:pPr marL="177800" indent="-177800">
              <a:spcAft>
                <a:spcPts val="800"/>
              </a:spcAft>
              <a:buSzPct val="100000"/>
              <a:buChar char="•"/>
            </a:pPr>
            <a:r>
              <a:rPr lang="en-US" sz="1500" dirty="0">
                <a:solidFill>
                  <a:srgbClr val="1C1C1A"/>
                </a:solidFill>
                <a:latin typeface="Arial" pitchFamily="34" charset="0"/>
                <a:ea typeface="Arial" pitchFamily="34" charset="-122"/>
                <a:cs typeface="Arial" pitchFamily="34" charset="-120"/>
              </a:rPr>
              <a:t>Archetype profiles are the contribution surface: TEMPLATE.md plus AP1 to AP5</a:t>
            </a:r>
            <a:endParaRPr lang="en-US" sz="1500" dirty="0"/>
          </a:p>
          <a:p>
            <a:pPr marL="177800" indent="-177800">
              <a:spcAft>
                <a:spcPts val="800"/>
              </a:spcAft>
              <a:buSzPct val="100000"/>
              <a:buChar char="•"/>
            </a:pPr>
            <a:r>
              <a:rPr lang="en-US" sz="1500" dirty="0">
                <a:solidFill>
                  <a:srgbClr val="1C1C1A"/>
                </a:solidFill>
                <a:latin typeface="Arial" pitchFamily="34" charset="0"/>
                <a:ea typeface="Arial" pitchFamily="34" charset="-122"/>
                <a:cs typeface="Arial" pitchFamily="34" charset="-120"/>
              </a:rPr>
              <a:t>GOVERNANCE.md separates editorial from normative change; a named review panel gates any 1.0</a:t>
            </a:r>
            <a:endParaRPr lang="en-US" sz="1500" dirty="0"/>
          </a:p>
        </p:txBody>
      </p:sp>
      <p:sp>
        <p:nvSpPr>
          <p:cNvPr id="4" name="Shape 2"/>
          <p:cNvSpPr/>
          <p:nvPr/>
        </p:nvSpPr>
        <p:spPr>
          <a:xfrm>
            <a:off x="7726680" y="1828800"/>
            <a:ext cx="3794760" cy="3017520"/>
          </a:xfrm>
          <a:prstGeom prst="roundRect">
            <a:avLst>
              <a:gd name="adj" fmla="val 2424"/>
            </a:avLst>
          </a:prstGeom>
          <a:solidFill>
            <a:srgbClr val="F8F7F3"/>
          </a:solidFill>
          <a:ln w="11430">
            <a:solidFill>
              <a:srgbClr val="D4D2C8"/>
            </a:solidFill>
            <a:prstDash val="solid"/>
          </a:ln>
        </p:spPr>
      </p:sp>
      <p:sp>
        <p:nvSpPr>
          <p:cNvPr id="5" name="Text 3"/>
          <p:cNvSpPr/>
          <p:nvPr/>
        </p:nvSpPr>
        <p:spPr>
          <a:xfrm>
            <a:off x="8001000" y="2057400"/>
            <a:ext cx="3291840" cy="365760"/>
          </a:xfrm>
          <a:prstGeom prst="rect">
            <a:avLst/>
          </a:prstGeom>
          <a:noFill/>
          <a:ln/>
        </p:spPr>
        <p:txBody>
          <a:bodyPr wrap="square" rtlCol="0" anchor="ctr"/>
          <a:lstStyle/>
          <a:p>
            <a:pPr indent="0" marL="0">
              <a:buNone/>
            </a:pPr>
            <a:r>
              <a:rPr lang="en-US" sz="1300" b="1" spc="100" kern="0" dirty="0">
                <a:solidFill>
                  <a:srgbClr val="66665E"/>
                </a:solidFill>
                <a:latin typeface="Arial" pitchFamily="34" charset="0"/>
                <a:ea typeface="Arial" pitchFamily="34" charset="-122"/>
                <a:cs typeface="Arial" pitchFamily="34" charset="-120"/>
              </a:rPr>
              <a:t>Statement census</a:t>
            </a:r>
            <a:endParaRPr lang="en-US" sz="1300" dirty="0"/>
          </a:p>
        </p:txBody>
      </p:sp>
      <p:sp>
        <p:nvSpPr>
          <p:cNvPr id="6" name="Text 4"/>
          <p:cNvSpPr/>
          <p:nvPr/>
        </p:nvSpPr>
        <p:spPr>
          <a:xfrm>
            <a:off x="8001000" y="2468880"/>
            <a:ext cx="3291840" cy="2194560"/>
          </a:xfrm>
          <a:prstGeom prst="rect">
            <a:avLst/>
          </a:prstGeom>
          <a:noFill/>
          <a:ln/>
        </p:spPr>
        <p:txBody>
          <a:bodyPr wrap="square" lIns="0" tIns="0" rIns="0" bIns="0" rtlCol="0" anchor="ctr"/>
          <a:lstStyle/>
          <a:p>
            <a:pPr indent="0" marL="0">
              <a:buNone/>
            </a:pPr>
            <a:r>
              <a:rPr lang="en-US" sz="4000" b="1" dirty="0">
                <a:solidFill>
                  <a:srgbClr val="1C1C1A"/>
                </a:solidFill>
                <a:latin typeface="Georgia" pitchFamily="34" charset="0"/>
                <a:ea typeface="Georgia" pitchFamily="34" charset="-122"/>
                <a:cs typeface="Georgia" pitchFamily="34" charset="-120"/>
              </a:rPr>
              <a:t>47</a:t>
            </a:r>
            <a:endParaRPr lang="en-US" sz="4000" dirty="0"/>
          </a:p>
          <a:p>
            <a:pPr indent="0" marL="0">
              <a:spcAft>
                <a:spcPts val="1000"/>
              </a:spcAft>
              <a:buNone/>
            </a:pPr>
            <a:r>
              <a:rPr lang="en-US" sz="1250" dirty="0">
                <a:solidFill>
                  <a:srgbClr val="1C1C1A"/>
                </a:solidFill>
              </a:rPr>
              <a:t>core decisions: M, O, S, P, PS, C</a:t>
            </a:r>
            <a:endParaRPr lang="en-US" sz="4000" dirty="0"/>
          </a:p>
          <a:p>
            <a:pPr indent="0" marL="0">
              <a:buNone/>
            </a:pPr>
            <a:r>
              <a:rPr lang="en-US" sz="2600" b="1" dirty="0">
                <a:solidFill>
                  <a:srgbClr val="1C1C1A"/>
                </a:solidFill>
                <a:latin typeface="Georgia" pitchFamily="34" charset="0"/>
                <a:ea typeface="Georgia" pitchFamily="34" charset="-122"/>
                <a:cs typeface="Georgia" pitchFamily="34" charset="-120"/>
              </a:rPr>
              <a:t>12 + 5</a:t>
            </a:r>
            <a:endParaRPr lang="en-US" sz="4000" dirty="0"/>
          </a:p>
          <a:p>
            <a:pPr indent="0" marL="0">
              <a:buNone/>
            </a:pPr>
            <a:r>
              <a:rPr lang="en-US" sz="1250" dirty="0">
                <a:solidFill>
                  <a:srgbClr val="1C1C1A"/>
                </a:solidFill>
              </a:rPr>
              <a:t>metrics statements and profile rules</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2148840"/>
            <a:ext cx="10058400" cy="365760"/>
          </a:xfrm>
          <a:prstGeom prst="rect">
            <a:avLst/>
          </a:prstGeom>
          <a:noFill/>
          <a:ln/>
        </p:spPr>
        <p:txBody>
          <a:bodyPr wrap="square" rtlCol="0" anchor="ctr"/>
          <a:lstStyle/>
          <a:p>
            <a:pPr indent="0" marL="0">
              <a:buNone/>
            </a:pPr>
            <a:r>
              <a:rPr lang="en-US" sz="1300" b="1" spc="350" kern="0" dirty="0">
                <a:solidFill>
                  <a:srgbClr val="A2A299"/>
                </a:solidFill>
                <a:latin typeface="Courier New" pitchFamily="34" charset="0"/>
                <a:ea typeface="Courier New" pitchFamily="34" charset="-122"/>
                <a:cs typeface="Courier New" pitchFamily="34" charset="-120"/>
              </a:rPr>
              <a:t>GET IT</a:t>
            </a:r>
            <a:endParaRPr lang="en-US" sz="1300" dirty="0"/>
          </a:p>
        </p:txBody>
      </p:sp>
      <p:sp>
        <p:nvSpPr>
          <p:cNvPr id="3" name="Text 1"/>
          <p:cNvSpPr/>
          <p:nvPr/>
        </p:nvSpPr>
        <p:spPr>
          <a:xfrm>
            <a:off x="822960" y="2560320"/>
            <a:ext cx="10515600" cy="1005840"/>
          </a:xfrm>
          <a:prstGeom prst="rect">
            <a:avLst/>
          </a:prstGeom>
          <a:noFill/>
          <a:ln/>
        </p:spPr>
        <p:txBody>
          <a:bodyPr wrap="square" rtlCol="0" anchor="ctr"/>
          <a:lstStyle/>
          <a:p>
            <a:pPr indent="0" marL="0">
              <a:buNone/>
            </a:pPr>
            <a:r>
              <a:rPr lang="en-US" sz="4200" b="1" dirty="0">
                <a:solidFill>
                  <a:srgbClr val="EFEEE9"/>
                </a:solidFill>
                <a:latin typeface="Georgia" pitchFamily="34" charset="0"/>
                <a:ea typeface="Georgia" pitchFamily="34" charset="-122"/>
                <a:cs typeface="Georgia" pitchFamily="34" charset="-120"/>
              </a:rPr>
              <a:t>github.com/identara/iga-operating-framework</a:t>
            </a:r>
            <a:endParaRPr lang="en-US" sz="4200" dirty="0"/>
          </a:p>
        </p:txBody>
      </p:sp>
      <p:sp>
        <p:nvSpPr>
          <p:cNvPr id="4" name="Text 2"/>
          <p:cNvSpPr/>
          <p:nvPr/>
        </p:nvSpPr>
        <p:spPr>
          <a:xfrm>
            <a:off x="822960" y="3657600"/>
            <a:ext cx="10424160" cy="1737360"/>
          </a:xfrm>
          <a:prstGeom prst="rect">
            <a:avLst/>
          </a:prstGeom>
          <a:noFill/>
          <a:ln/>
        </p:spPr>
        <p:txBody>
          <a:bodyPr wrap="square" rtlCol="0" anchor="ctr"/>
          <a:lstStyle/>
          <a:p>
            <a:pPr marL="177800" indent="-177800">
              <a:spcAft>
                <a:spcPts val="800"/>
              </a:spcAft>
              <a:buSzPct val="100000"/>
              <a:buChar char="•"/>
            </a:pPr>
            <a:r>
              <a:rPr lang="en-US" sz="1500" dirty="0">
                <a:solidFill>
                  <a:srgbClr val="C9C7BE"/>
                </a:solidFill>
                <a:latin typeface="Arial" pitchFamily="34" charset="0"/>
                <a:ea typeface="Arial" pitchFamily="34" charset="-122"/>
                <a:cs typeface="Arial" pitchFamily="34" charset="-120"/>
              </a:rPr>
              <a:t>Everything in this deck exists in full in the repository: chapters, metrics, worksheets, worked example, interactive explorer</a:t>
            </a:r>
            <a:endParaRPr lang="en-US" sz="1500" dirty="0"/>
          </a:p>
          <a:p>
            <a:pPr marL="177800" indent="-177800">
              <a:spcAft>
                <a:spcPts val="800"/>
              </a:spcAft>
              <a:buSzPct val="100000"/>
              <a:buChar char="•"/>
            </a:pPr>
            <a:r>
              <a:rPr lang="en-US" sz="1500" dirty="0">
                <a:solidFill>
                  <a:srgbClr val="C9C7BE"/>
                </a:solidFill>
                <a:latin typeface="Arial" pitchFamily="34" charset="0"/>
                <a:ea typeface="Arial" pitchFamily="34" charset="-122"/>
                <a:cs typeface="Arial" pitchFamily="34" charset="-120"/>
              </a:rPr>
              <a:t>Reuse this deck freely in your own sessions and engagements; it is a companion of the framework, CC BY 4.0</a:t>
            </a:r>
            <a:endParaRPr lang="en-US" sz="1500" dirty="0"/>
          </a:p>
          <a:p>
            <a:pPr marL="177800" indent="-177800">
              <a:spcAft>
                <a:spcPts val="800"/>
              </a:spcAft>
              <a:buSzPct val="100000"/>
              <a:buChar char="•"/>
            </a:pPr>
            <a:r>
              <a:rPr lang="en-US" sz="1500" dirty="0">
                <a:solidFill>
                  <a:srgbClr val="C9C7BE"/>
                </a:solidFill>
                <a:latin typeface="Arial" pitchFamily="34" charset="0"/>
                <a:ea typeface="Arial" pitchFamily="34" charset="-122"/>
                <a:cs typeface="Arial" pitchFamily="34" charset="-120"/>
              </a:rPr>
              <a:t>Keep the attribution when you adapt it, and file what you disagree with as an issue, by statement identifier</a:t>
            </a:r>
            <a:endParaRPr lang="en-US" sz="1500" dirty="0"/>
          </a:p>
        </p:txBody>
      </p:sp>
      <p:sp>
        <p:nvSpPr>
          <p:cNvPr id="5" name="Text 3"/>
          <p:cNvSpPr/>
          <p:nvPr/>
        </p:nvSpPr>
        <p:spPr>
          <a:xfrm>
            <a:off x="822960" y="5806440"/>
            <a:ext cx="10515600" cy="365760"/>
          </a:xfrm>
          <a:prstGeom prst="rect">
            <a:avLst/>
          </a:prstGeom>
          <a:noFill/>
          <a:ln/>
        </p:spPr>
        <p:txBody>
          <a:bodyPr wrap="square" rtlCol="0" anchor="ctr"/>
          <a:lstStyle/>
          <a:p>
            <a:pPr indent="0" marL="0">
              <a:buNone/>
            </a:pPr>
            <a:r>
              <a:rPr lang="en-US" sz="1150" dirty="0">
                <a:solidFill>
                  <a:srgbClr val="A2A299"/>
                </a:solidFill>
                <a:latin typeface="Courier New" pitchFamily="34" charset="0"/>
                <a:ea typeface="Courier New" pitchFamily="34" charset="-122"/>
                <a:cs typeface="Courier New" pitchFamily="34" charset="-120"/>
              </a:rPr>
              <a:t>Ganesh, V. Open IGA Operating Framework (v0.1). Identara. DOI 10.5281/zenodo.21251831. CC BY 4.0.</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IGA Operating Framework</dc:title>
  <dc:subject>PptxGenJS Presentation</dc:subject>
  <dc:creator>Vidyaa Ganesh</dc:creator>
  <cp:lastModifiedBy>Vidyaa Ganesh</cp:lastModifiedBy>
  <cp:revision>1</cp:revision>
  <dcterms:created xsi:type="dcterms:W3CDTF">2026-07-08T12:54:56Z</dcterms:created>
  <dcterms:modified xsi:type="dcterms:W3CDTF">2026-07-08T12:54:56Z</dcterms:modified>
</cp:coreProperties>
</file>